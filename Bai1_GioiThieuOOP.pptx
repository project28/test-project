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8" r:id="rId11"/>
    <p:sldId id="265" r:id="rId12"/>
    <p:sldId id="266" r:id="rId13"/>
    <p:sldId id="267" r:id="rId14"/>
    <p:sldId id="269" r:id="rId15"/>
    <p:sldId id="270" r:id="rId16"/>
    <p:sldId id="271" r:id="rId17"/>
    <p:sldId id="272" r:id="rId18"/>
    <p:sldId id="273" r:id="rId19"/>
    <p:sldId id="281" r:id="rId20"/>
    <p:sldId id="282" r:id="rId21"/>
    <p:sldId id="274" r:id="rId22"/>
    <p:sldId id="275" r:id="rId23"/>
    <p:sldId id="276" r:id="rId24"/>
    <p:sldId id="277" r:id="rId25"/>
    <p:sldId id="278" r:id="rId26"/>
    <p:sldId id="279" r:id="rId27"/>
    <p:sldId id="280" r:id="rId28"/>
    <p:sldId id="28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8" d="100"/>
          <a:sy n="88" d="100"/>
        </p:scale>
        <p:origin x="106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884AFBE-5D81-4C3F-BFBF-0F67F787B70B}" type="datetimeFigureOut">
              <a:rPr lang="vi-VN" smtClean="0"/>
              <a:t>16/01/2017</a:t>
            </a:fld>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5A6EBB-928A-4074-B494-DDCB6844E7DE}" type="slidenum">
              <a:rPr lang="vi-VN" smtClean="0"/>
              <a:t>‹#›</a:t>
            </a:fld>
            <a:endParaRPr lang="vi-VN"/>
          </a:p>
        </p:txBody>
      </p:sp>
    </p:spTree>
    <p:extLst>
      <p:ext uri="{BB962C8B-B14F-4D97-AF65-F5344CB8AC3E}">
        <p14:creationId xmlns:p14="http://schemas.microsoft.com/office/powerpoint/2010/main" val="1217135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vi-VN"/>
          </a:p>
        </p:txBody>
      </p:sp>
      <p:sp>
        <p:nvSpPr>
          <p:cNvPr id="4" name="Slide Number Placeholder 3"/>
          <p:cNvSpPr>
            <a:spLocks noGrp="1"/>
          </p:cNvSpPr>
          <p:nvPr>
            <p:ph type="sldNum" sz="quarter" idx="10"/>
          </p:nvPr>
        </p:nvSpPr>
        <p:spPr/>
        <p:txBody>
          <a:bodyPr/>
          <a:lstStyle/>
          <a:p>
            <a:fld id="{3F5A6EBB-928A-4074-B494-DDCB6844E7DE}" type="slidenum">
              <a:rPr lang="vi-VN" smtClean="0"/>
              <a:t>1</a:t>
            </a:fld>
            <a:endParaRPr lang="vi-VN"/>
          </a:p>
        </p:txBody>
      </p:sp>
    </p:spTree>
    <p:extLst>
      <p:ext uri="{BB962C8B-B14F-4D97-AF65-F5344CB8AC3E}">
        <p14:creationId xmlns:p14="http://schemas.microsoft.com/office/powerpoint/2010/main" val="3838712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4D1AB679-AD80-4414-A615-C877663E5876}" type="datetime1">
              <a:rPr lang="en-US" smtClean="0"/>
              <a:t>1/16/2017</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7955DF4-ECA3-430B-95B3-B6023ADA6AA8}" type="datetime1">
              <a:rPr lang="en-US" smtClean="0"/>
              <a:t>1/16/2017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B017930-69F9-4B50-A4C9-B0D99EB3F9DB}" type="datetime1">
              <a:rPr lang="en-US" smtClean="0"/>
              <a:t>1/16/2017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FFF6CB9-F89E-4B44-AB7D-9A4CA4ACD6BA}" type="datetime1">
              <a:rPr lang="en-US" smtClean="0"/>
              <a:t>1/16/2017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5622ADCF-0EEC-4B4F-8AA1-0049782D0F8F}" type="datetime1">
              <a:rPr lang="en-US" smtClean="0"/>
              <a:t>1/16/2017</a:t>
            </a:fld>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A7F26592-1CA1-41EE-ADB5-438D9ADFE33B}" type="datetime1">
              <a:rPr lang="en-US" smtClean="0"/>
              <a:t>1/16/2017</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3FD916-AB83-4F3E-8B55-5B8DEF37B149}" type="datetime1">
              <a:rPr lang="en-US" smtClean="0"/>
              <a:t>1/16/2017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8DCFFD9-F80C-4E88-B902-8CF2DDD97A00}" type="datetime1">
              <a:rPr lang="en-US" smtClean="0"/>
              <a:t>1/16/2017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603C70A-ACDF-4212-9861-F5A67A06B485}" type="datetime1">
              <a:rPr lang="en-US" smtClean="0"/>
              <a:t>1/16/2017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70A8939-7777-4CA3-803B-5FA29BE70985}" type="datetime1">
              <a:rPr lang="en-US" smtClean="0"/>
              <a:t>1/16/2017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04FCDD3-0F5F-4282-BAEF-0647679CB3B1}" type="datetime1">
              <a:rPr lang="en-US" smtClean="0"/>
              <a:t>1/16/2017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5029291F-7716-4C9D-AE59-89B30870C122}" type="datetime1">
              <a:rPr lang="en-US" smtClean="0"/>
              <a:t>1/16/2017</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057400"/>
            <a:ext cx="8458200" cy="1470025"/>
          </a:xfrm>
        </p:spPr>
        <p:txBody>
          <a:bodyPr/>
          <a:lstStyle/>
          <a:p>
            <a:r>
              <a:rPr lang="en-US" b="1" smtClean="0">
                <a:latin typeface="Times New Roman" pitchFamily="18" charset="0"/>
                <a:cs typeface="Times New Roman" pitchFamily="18" charset="0"/>
              </a:rPr>
              <a:t>Bài 1: Giới thiệu về lập trình hướng đối tượng</a:t>
            </a:r>
            <a:endParaRPr lang="vi-VN" b="1">
              <a:latin typeface="Times New Roman" pitchFamily="18" charset="0"/>
              <a:cs typeface="Times New Roman" pitchFamily="18" charset="0"/>
            </a:endParaRPr>
          </a:p>
        </p:txBody>
      </p:sp>
      <p:sp>
        <p:nvSpPr>
          <p:cNvPr id="3" name="Subtitle 2"/>
          <p:cNvSpPr>
            <a:spLocks noGrp="1"/>
          </p:cNvSpPr>
          <p:nvPr>
            <p:ph type="subTitle" idx="1"/>
          </p:nvPr>
        </p:nvSpPr>
        <p:spPr>
          <a:xfrm>
            <a:off x="1371600" y="4267200"/>
            <a:ext cx="6400800" cy="1600200"/>
          </a:xfrm>
        </p:spPr>
        <p:txBody>
          <a:bodyPr/>
          <a:lstStyle/>
          <a:p>
            <a:r>
              <a:rPr lang="vi-VN" dirty="0" smtClean="0">
                <a:solidFill>
                  <a:schemeClr val="tx1"/>
                </a:solidFill>
              </a:rPr>
              <a:t>Bộ </a:t>
            </a:r>
            <a:r>
              <a:rPr lang="vi-VN" dirty="0" smtClean="0">
                <a:solidFill>
                  <a:schemeClr val="tx1"/>
                </a:solidFill>
              </a:rPr>
              <a:t>môn CNPM</a:t>
            </a:r>
            <a:endParaRPr lang="vi-VN"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066800"/>
          </a:xfrm>
        </p:spPr>
        <p:txBody>
          <a:bodyPr/>
          <a:lstStyle/>
          <a:p>
            <a:pPr algn="ctr"/>
            <a:r>
              <a:rPr lang="en-US" b="1" smtClean="0">
                <a:solidFill>
                  <a:srgbClr val="0070C0"/>
                </a:solidFill>
                <a:latin typeface="Times New Roman" pitchFamily="18" charset="0"/>
                <a:cs typeface="Times New Roman" pitchFamily="18" charset="0"/>
              </a:rPr>
              <a:t>Giới thiệu</a:t>
            </a:r>
            <a:endParaRPr lang="vi-VN"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953000"/>
          </a:xfrm>
        </p:spPr>
        <p:txBody>
          <a:bodyPr>
            <a:noAutofit/>
          </a:bodyPr>
          <a:lstStyle/>
          <a:p>
            <a:pPr>
              <a:buFont typeface="Wingdings" pitchFamily="2" charset="2"/>
              <a:buNone/>
            </a:pPr>
            <a:r>
              <a:rPr lang="en-US" sz="2200" b="1" smtClean="0">
                <a:latin typeface="Times New Roman" pitchFamily="18" charset="0"/>
                <a:cs typeface="Times New Roman" pitchFamily="18" charset="0"/>
              </a:rPr>
              <a:t>Tổng quan</a:t>
            </a:r>
          </a:p>
          <a:p>
            <a:r>
              <a:rPr lang="en-US" sz="2200" smtClean="0">
                <a:latin typeface="Times New Roman" pitchFamily="18" charset="0"/>
                <a:cs typeface="Times New Roman" pitchFamily="18" charset="0"/>
              </a:rPr>
              <a:t>Lập trình hướng đối tượng</a:t>
            </a:r>
          </a:p>
          <a:p>
            <a:pPr lvl="1"/>
            <a:r>
              <a:rPr lang="en-US" sz="2200" smtClean="0">
                <a:solidFill>
                  <a:schemeClr val="tx1"/>
                </a:solidFill>
                <a:latin typeface="Times New Roman" pitchFamily="18" charset="0"/>
                <a:cs typeface="Times New Roman" pitchFamily="18" charset="0"/>
              </a:rPr>
              <a:t>Lập trình định hướng đối tượng</a:t>
            </a:r>
          </a:p>
          <a:p>
            <a:pPr lvl="1"/>
            <a:r>
              <a:rPr lang="en-US" sz="2200" smtClean="0">
                <a:solidFill>
                  <a:schemeClr val="tx1"/>
                </a:solidFill>
                <a:latin typeface="Times New Roman" pitchFamily="18" charset="0"/>
                <a:cs typeface="Times New Roman" pitchFamily="18" charset="0"/>
              </a:rPr>
              <a:t>Object Oriented Programming (OOP)</a:t>
            </a:r>
          </a:p>
          <a:p>
            <a:r>
              <a:rPr lang="en-US" sz="2200" smtClean="0">
                <a:latin typeface="Times New Roman" pitchFamily="18" charset="0"/>
                <a:cs typeface="Times New Roman" pitchFamily="18" charset="0"/>
              </a:rPr>
              <a:t>Được xem là: </a:t>
            </a:r>
          </a:p>
          <a:p>
            <a:pPr lvl="1"/>
            <a:r>
              <a:rPr lang="en-US" sz="2200" smtClean="0">
                <a:solidFill>
                  <a:schemeClr val="tx1"/>
                </a:solidFill>
                <a:latin typeface="Times New Roman" pitchFamily="18" charset="0"/>
                <a:cs typeface="Times New Roman" pitchFamily="18" charset="0"/>
              </a:rPr>
              <a:t>Cách tiếp cận mới, hiệu quả hơn</a:t>
            </a:r>
          </a:p>
          <a:p>
            <a:pPr lvl="1"/>
            <a:r>
              <a:rPr lang="en-US" sz="2200" smtClean="0">
                <a:solidFill>
                  <a:schemeClr val="tx1"/>
                </a:solidFill>
                <a:latin typeface="Times New Roman" pitchFamily="18" charset="0"/>
                <a:cs typeface="Times New Roman" pitchFamily="18" charset="0"/>
              </a:rPr>
              <a:t>Giúp tăng năng suất</a:t>
            </a:r>
          </a:p>
          <a:p>
            <a:pPr lvl="1"/>
            <a:r>
              <a:rPr lang="en-US" sz="2200" smtClean="0">
                <a:solidFill>
                  <a:schemeClr val="tx1"/>
                </a:solidFill>
                <a:latin typeface="Times New Roman" pitchFamily="18" charset="0"/>
                <a:cs typeface="Times New Roman" pitchFamily="18" charset="0"/>
              </a:rPr>
              <a:t>Dễ dàng bảo trì, sửa đổi, nâng cấp</a:t>
            </a:r>
          </a:p>
          <a:p>
            <a:r>
              <a:rPr lang="en-US" sz="2200" smtClean="0">
                <a:latin typeface="Times New Roman" pitchFamily="18" charset="0"/>
                <a:cs typeface="Times New Roman" pitchFamily="18" charset="0"/>
              </a:rPr>
              <a:t>Mục đích: </a:t>
            </a:r>
          </a:p>
          <a:p>
            <a:pPr lvl="1"/>
            <a:r>
              <a:rPr lang="en-US" sz="2200" smtClean="0">
                <a:solidFill>
                  <a:schemeClr val="tx1"/>
                </a:solidFill>
                <a:latin typeface="Times New Roman" pitchFamily="18" charset="0"/>
                <a:cs typeface="Times New Roman" pitchFamily="18" charset="0"/>
              </a:rPr>
              <a:t>Giảm bớt thao tác viết trình</a:t>
            </a:r>
          </a:p>
          <a:p>
            <a:pPr lvl="1"/>
            <a:r>
              <a:rPr lang="en-US" sz="2200" smtClean="0">
                <a:solidFill>
                  <a:schemeClr val="tx1"/>
                </a:solidFill>
                <a:latin typeface="Times New Roman" pitchFamily="18" charset="0"/>
                <a:cs typeface="Times New Roman" pitchFamily="18" charset="0"/>
              </a:rPr>
              <a:t>Mô tả chân thực thế giới thực</a:t>
            </a:r>
          </a:p>
        </p:txBody>
      </p:sp>
      <p:sp>
        <p:nvSpPr>
          <p:cNvPr id="6" name="Slide Number Placeholder 5"/>
          <p:cNvSpPr>
            <a:spLocks noGrp="1"/>
          </p:cNvSpPr>
          <p:nvPr>
            <p:ph type="sldNum" sz="quarter" idx="12"/>
          </p:nvPr>
        </p:nvSpPr>
        <p:spPr/>
        <p:txBody>
          <a:bodyPr/>
          <a:lstStyle/>
          <a:p>
            <a:fld id="{B6F15528-21DE-4FAA-801E-634DDDAF4B2B}" type="slidenum">
              <a:rPr lang="en-US" sz="2000" smtClean="0"/>
              <a:pPr/>
              <a:t>2</a:t>
            </a:fld>
            <a:endParaRPr lang="en-US" sz="20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09600"/>
            <a:ext cx="8229600" cy="1020762"/>
          </a:xfrm>
        </p:spPr>
        <p:txBody>
          <a:bodyPr>
            <a:normAutofit/>
          </a:bodyPr>
          <a:lstStyle/>
          <a:p>
            <a:r>
              <a:rPr lang="en-US" sz="3400" b="1" smtClean="0">
                <a:solidFill>
                  <a:srgbClr val="0070C0"/>
                </a:solidFill>
                <a:latin typeface="Times New Roman" pitchFamily="18" charset="0"/>
                <a:cs typeface="Times New Roman" pitchFamily="18" charset="0"/>
              </a:rPr>
              <a:t>Tổng quan về các phương pháp lập trình</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685800" y="1981200"/>
            <a:ext cx="7620000" cy="3581400"/>
          </a:xfrm>
        </p:spPr>
        <p:txBody>
          <a:bodyPr>
            <a:noAutofit/>
          </a:bodyPr>
          <a:lstStyle/>
          <a:p>
            <a:r>
              <a:rPr lang="en-US" sz="2400" smtClean="0">
                <a:latin typeface="Times New Roman" pitchFamily="18" charset="0"/>
                <a:cs typeface="Times New Roman" pitchFamily="18" charset="0"/>
              </a:rPr>
              <a:t>Lập trình truyền thống.</a:t>
            </a:r>
          </a:p>
          <a:p>
            <a:pPr lvl="1"/>
            <a:r>
              <a:rPr lang="en-US" sz="2400" smtClean="0">
                <a:solidFill>
                  <a:schemeClr val="tx1"/>
                </a:solidFill>
                <a:latin typeface="Times New Roman" pitchFamily="18" charset="0"/>
                <a:cs typeface="Times New Roman" pitchFamily="18" charset="0"/>
              </a:rPr>
              <a:t>Lập trình phi cấu trúc ( Lập trình tuyến tính).</a:t>
            </a:r>
          </a:p>
          <a:p>
            <a:pPr lvl="1"/>
            <a:r>
              <a:rPr lang="en-US" sz="2400" smtClean="0">
                <a:solidFill>
                  <a:schemeClr val="tx1"/>
                </a:solidFill>
                <a:latin typeface="Times New Roman" pitchFamily="18" charset="0"/>
                <a:cs typeface="Times New Roman" pitchFamily="18" charset="0"/>
              </a:rPr>
              <a:t>Lập trình cấu trúc.</a:t>
            </a:r>
          </a:p>
          <a:p>
            <a:r>
              <a:rPr lang="en-US" sz="2400" smtClean="0">
                <a:latin typeface="Times New Roman" pitchFamily="18" charset="0"/>
                <a:cs typeface="Times New Roman" pitchFamily="18" charset="0"/>
              </a:rPr>
              <a:t>Lập trình hướng đối tượng.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1020762"/>
          </a:xfrm>
        </p:spPr>
        <p:txBody>
          <a:bodyPr>
            <a:normAutofit/>
          </a:bodyPr>
          <a:lstStyle/>
          <a:p>
            <a:pPr algn="ctr"/>
            <a:r>
              <a:rPr lang="en-US" sz="3400" b="1" smtClean="0">
                <a:solidFill>
                  <a:srgbClr val="0070C0"/>
                </a:solidFill>
                <a:latin typeface="Times New Roman" pitchFamily="18" charset="0"/>
                <a:cs typeface="Times New Roman" pitchFamily="18" charset="0"/>
              </a:rPr>
              <a:t>Lập trình phi cấu trúc</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685800" y="1828800"/>
            <a:ext cx="7620000" cy="4572000"/>
          </a:xfrm>
        </p:spPr>
        <p:txBody>
          <a:bodyPr>
            <a:noAutofit/>
          </a:bodyPr>
          <a:lstStyle/>
          <a:p>
            <a:pPr marL="609600" indent="-609600"/>
            <a:r>
              <a:rPr lang="en-US" sz="2800" smtClean="0">
                <a:latin typeface="Times New Roman" pitchFamily="18" charset="0"/>
                <a:cs typeface="Times New Roman" pitchFamily="18" charset="0"/>
              </a:rPr>
              <a:t>Nhược điểm:</a:t>
            </a:r>
          </a:p>
          <a:p>
            <a:pPr marL="990600" lvl="1" indent="-646113"/>
            <a:r>
              <a:rPr lang="en-US" sz="2400" smtClean="0">
                <a:solidFill>
                  <a:schemeClr val="tx1"/>
                </a:solidFill>
                <a:latin typeface="Times New Roman" pitchFamily="18" charset="0"/>
                <a:cs typeface="Times New Roman" pitchFamily="18" charset="0"/>
              </a:rPr>
              <a:t>Không sử dụng lại được các đoạn mã</a:t>
            </a:r>
          </a:p>
          <a:p>
            <a:pPr marL="990600" lvl="1" indent="-646113"/>
            <a:r>
              <a:rPr lang="en-US" sz="2400" smtClean="0">
                <a:solidFill>
                  <a:schemeClr val="tx1"/>
                </a:solidFill>
                <a:latin typeface="Times New Roman" pitchFamily="18" charset="0"/>
                <a:cs typeface="Times New Roman" pitchFamily="18" charset="0"/>
              </a:rPr>
              <a:t>Không có khả năng kiểm soát phạm vi truy xuất dữ liệu</a:t>
            </a:r>
          </a:p>
          <a:p>
            <a:pPr marL="990600" lvl="1" indent="-646113"/>
            <a:r>
              <a:rPr lang="en-US" sz="2400" smtClean="0">
                <a:solidFill>
                  <a:schemeClr val="tx1"/>
                </a:solidFill>
                <a:latin typeface="Times New Roman" pitchFamily="18" charset="0"/>
                <a:cs typeface="Times New Roman" pitchFamily="18" charset="0"/>
              </a:rPr>
              <a:t>Mọi dữ liệu trong chương trình là toàn cục</a:t>
            </a:r>
          </a:p>
          <a:p>
            <a:pPr marL="990600" lvl="1" indent="-646113"/>
            <a:r>
              <a:rPr lang="en-US" sz="2400" smtClean="0">
                <a:solidFill>
                  <a:schemeClr val="tx1"/>
                </a:solidFill>
                <a:latin typeface="Times New Roman" pitchFamily="18" charset="0"/>
                <a:cs typeface="Times New Roman" pitchFamily="18" charset="0"/>
              </a:rPr>
              <a:t>Dữ liệu có thể bị sửa đổi ở bất cứ vị trí nào trong chương trình.</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7038"/>
            <a:ext cx="8229600" cy="1020762"/>
          </a:xfrm>
        </p:spPr>
        <p:txBody>
          <a:bodyPr>
            <a:normAutofit/>
          </a:bodyPr>
          <a:lstStyle/>
          <a:p>
            <a:pPr algn="ctr"/>
            <a:r>
              <a:rPr lang="en-US" sz="3400" b="1" smtClean="0">
                <a:solidFill>
                  <a:srgbClr val="0070C0"/>
                </a:solidFill>
                <a:latin typeface="Times New Roman" pitchFamily="18" charset="0"/>
                <a:cs typeface="Times New Roman" pitchFamily="18" charset="0"/>
              </a:rPr>
              <a:t>Lập trình phi cấu trúc</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685800" y="1371600"/>
            <a:ext cx="7620000" cy="5029200"/>
          </a:xfrm>
        </p:spPr>
        <p:txBody>
          <a:bodyPr>
            <a:noAutofit/>
          </a:bodyPr>
          <a:lstStyle/>
          <a:p>
            <a:pPr marL="0" indent="3175">
              <a:lnSpc>
                <a:spcPct val="200000"/>
              </a:lnSpc>
              <a:buClr>
                <a:schemeClr val="tx1"/>
              </a:buClr>
              <a:buFont typeface="Wingdings" pitchFamily="2" charset="2"/>
              <a:buChar char="§"/>
            </a:pPr>
            <a:r>
              <a:rPr lang="en-US" sz="2200" b="1" smtClean="0">
                <a:latin typeface="Times New Roman" pitchFamily="18" charset="0"/>
                <a:cs typeface="Times New Roman" pitchFamily="18" charset="0"/>
              </a:rPr>
              <a:t>Lập trình phi cấu trúc :</a:t>
            </a:r>
          </a:p>
          <a:p>
            <a:pPr marL="746125" lvl="1">
              <a:lnSpc>
                <a:spcPct val="90000"/>
              </a:lnSpc>
              <a:buClr>
                <a:schemeClr val="tx1"/>
              </a:buClr>
              <a:buFontTx/>
              <a:buChar char="•"/>
            </a:pPr>
            <a:r>
              <a:rPr lang="en-US" sz="2200" smtClean="0">
                <a:solidFill>
                  <a:schemeClr val="tx1"/>
                </a:solidFill>
                <a:latin typeface="Times New Roman" pitchFamily="18" charset="0"/>
                <a:cs typeface="Times New Roman" pitchFamily="18" charset="0"/>
              </a:rPr>
              <a:t>Còn gọi là lập trình tuyến tính.</a:t>
            </a:r>
          </a:p>
          <a:p>
            <a:pPr marL="746125" lvl="1">
              <a:lnSpc>
                <a:spcPct val="90000"/>
              </a:lnSpc>
              <a:buClr>
                <a:schemeClr val="tx1"/>
              </a:buClr>
              <a:buFontTx/>
              <a:buChar char="•"/>
            </a:pPr>
            <a:r>
              <a:rPr lang="en-US" sz="2200" smtClean="0">
                <a:solidFill>
                  <a:schemeClr val="tx1"/>
                </a:solidFill>
                <a:latin typeface="Times New Roman" pitchFamily="18" charset="0"/>
                <a:cs typeface="Times New Roman" pitchFamily="18" charset="0"/>
              </a:rPr>
              <a:t>Giải quyết các bài toán tương nhỏ, tương đối đơn giản</a:t>
            </a:r>
          </a:p>
          <a:p>
            <a:pPr marL="0" indent="3175">
              <a:lnSpc>
                <a:spcPct val="90000"/>
              </a:lnSpc>
              <a:buClr>
                <a:schemeClr val="tx1"/>
              </a:buClr>
              <a:buFont typeface="Wingdings" pitchFamily="2" charset="2"/>
              <a:buChar char="§"/>
            </a:pPr>
            <a:r>
              <a:rPr lang="en-US" sz="2200" b="1" smtClean="0">
                <a:latin typeface="Times New Roman" pitchFamily="18" charset="0"/>
                <a:cs typeface="Times New Roman" pitchFamily="18" charset="0"/>
              </a:rPr>
              <a:t>Đặc điểm:</a:t>
            </a:r>
          </a:p>
          <a:p>
            <a:pPr marL="746125" lvl="1">
              <a:lnSpc>
                <a:spcPct val="90000"/>
              </a:lnSpc>
              <a:buClr>
                <a:schemeClr val="tx1"/>
              </a:buClr>
              <a:buFontTx/>
              <a:buChar char="•"/>
            </a:pPr>
            <a:r>
              <a:rPr lang="en-US" sz="2200" smtClean="0">
                <a:solidFill>
                  <a:schemeClr val="tx1"/>
                </a:solidFill>
                <a:latin typeface="Times New Roman" pitchFamily="18" charset="0"/>
                <a:cs typeface="Times New Roman" pitchFamily="18" charset="0"/>
              </a:rPr>
              <a:t>Chỉ gồm một chương trình chính</a:t>
            </a:r>
          </a:p>
          <a:p>
            <a:pPr marL="746125" lvl="1">
              <a:lnSpc>
                <a:spcPct val="90000"/>
              </a:lnSpc>
              <a:buClr>
                <a:schemeClr val="tx1"/>
              </a:buClr>
              <a:buFontTx/>
              <a:buChar char="•"/>
            </a:pPr>
            <a:r>
              <a:rPr lang="en-US" sz="2200" smtClean="0">
                <a:solidFill>
                  <a:schemeClr val="tx1"/>
                </a:solidFill>
                <a:latin typeface="Times New Roman" pitchFamily="18" charset="0"/>
                <a:cs typeface="Times New Roman" pitchFamily="18" charset="0"/>
              </a:rPr>
              <a:t>Gồm một dãy tuần tự các câu lệnh. Không theo một mô hình nào.</a:t>
            </a:r>
          </a:p>
          <a:p>
            <a:pPr marL="746125" lvl="1">
              <a:lnSpc>
                <a:spcPct val="90000"/>
              </a:lnSpc>
              <a:buClr>
                <a:schemeClr val="tx1"/>
              </a:buClr>
              <a:buFontTx/>
              <a:buChar char="•"/>
            </a:pPr>
            <a:r>
              <a:rPr lang="en-US" sz="2200" smtClean="0">
                <a:solidFill>
                  <a:schemeClr val="tx1"/>
                </a:solidFill>
                <a:latin typeface="Times New Roman" pitchFamily="18" charset="0"/>
                <a:cs typeface="Times New Roman" pitchFamily="18" charset="0"/>
              </a:rPr>
              <a:t>Mỗi câu lệnh chỉ dẫn cho máy tính thực hiện một công việc gì đó.</a:t>
            </a:r>
          </a:p>
          <a:p>
            <a:pPr marL="746125" lvl="1">
              <a:lnSpc>
                <a:spcPct val="90000"/>
              </a:lnSpc>
              <a:buClr>
                <a:schemeClr val="tx1"/>
              </a:buClr>
              <a:buFontTx/>
              <a:buChar char="•"/>
            </a:pPr>
            <a:r>
              <a:rPr lang="en-US" sz="2200" smtClean="0">
                <a:solidFill>
                  <a:schemeClr val="tx1"/>
                </a:solidFill>
                <a:latin typeface="Times New Roman" pitchFamily="18" charset="0"/>
                <a:cs typeface="Times New Roman" pitchFamily="18" charset="0"/>
              </a:rPr>
              <a:t>Chương trình ngắn, ít hơn 100 dòng.</a:t>
            </a:r>
          </a:p>
          <a:p>
            <a:pPr marL="746125" lvl="1">
              <a:lnSpc>
                <a:spcPct val="90000"/>
              </a:lnSpc>
              <a:buClr>
                <a:schemeClr val="tx1"/>
              </a:buClr>
              <a:buFontTx/>
              <a:buChar char="•"/>
            </a:pPr>
            <a:r>
              <a:rPr lang="en-US" sz="2200" smtClean="0">
                <a:solidFill>
                  <a:schemeClr val="tx1"/>
                </a:solidFill>
                <a:latin typeface="Times New Roman" pitchFamily="18" charset="0"/>
                <a:cs typeface="Times New Roman" pitchFamily="18" charset="0"/>
              </a:rPr>
              <a:t>Công việc lập trình viên: Tạo ra một danh sách các chỉ lệnh, máy tính thực thi các chỉ lệnh đó.</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27038"/>
            <a:ext cx="8229600" cy="792162"/>
          </a:xfrm>
        </p:spPr>
        <p:txBody>
          <a:bodyPr>
            <a:normAutofit/>
          </a:bodyPr>
          <a:lstStyle/>
          <a:p>
            <a:r>
              <a:rPr lang="en-US" sz="3400" b="1" smtClean="0">
                <a:solidFill>
                  <a:srgbClr val="0070C0"/>
                </a:solidFill>
                <a:latin typeface="Times New Roman" pitchFamily="18" charset="0"/>
                <a:cs typeface="Times New Roman" pitchFamily="18" charset="0"/>
              </a:rPr>
              <a:t>Phân chia thành các thủ tục.</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381000" y="1143000"/>
            <a:ext cx="8763000" cy="2819400"/>
          </a:xfrm>
        </p:spPr>
        <p:txBody>
          <a:bodyPr>
            <a:noAutofit/>
          </a:bodyPr>
          <a:lstStyle/>
          <a:p>
            <a:pPr marL="0" indent="3175">
              <a:lnSpc>
                <a:spcPct val="90000"/>
              </a:lnSpc>
              <a:spcAft>
                <a:spcPts val="1200"/>
              </a:spcAft>
              <a:buClr>
                <a:schemeClr val="tx1"/>
              </a:buClr>
              <a:buFont typeface="Wingdings" pitchFamily="2" charset="2"/>
              <a:buChar char="§"/>
            </a:pPr>
            <a:r>
              <a:rPr lang="en-US" sz="2200" smtClean="0">
                <a:latin typeface="Times New Roman" pitchFamily="18" charset="0"/>
                <a:cs typeface="Times New Roman" pitchFamily="18" charset="0"/>
              </a:rPr>
              <a:t> Khi chương trình lớn, một danh sách các chỉ lệnh sẽ trở thành cồng kềnh, khó sử dụng.</a:t>
            </a:r>
          </a:p>
          <a:p>
            <a:pPr marL="0" indent="3175">
              <a:lnSpc>
                <a:spcPct val="90000"/>
              </a:lnSpc>
              <a:spcAft>
                <a:spcPts val="1200"/>
              </a:spcAft>
              <a:buClr>
                <a:schemeClr val="tx1"/>
              </a:buClr>
              <a:buFont typeface="Wingdings" pitchFamily="2" charset="2"/>
              <a:buChar char="à"/>
            </a:pPr>
            <a:r>
              <a:rPr lang="en-US" sz="2200" smtClean="0">
                <a:latin typeface="Times New Roman" pitchFamily="18" charset="0"/>
                <a:cs typeface="Times New Roman" pitchFamily="18" charset="0"/>
                <a:sym typeface="Wingdings" pitchFamily="2" charset="2"/>
              </a:rPr>
              <a:t>Ý tưởng: Chia chương trình thành các hàm (thủ tục, chương trình con). Mỗi hàm sẽ thực hiện một mục đích riêng, thiết lập một giao tiếp riêng đối với các hàm khác.</a:t>
            </a:r>
          </a:p>
          <a:p>
            <a:pPr marL="0" indent="3175">
              <a:lnSpc>
                <a:spcPct val="90000"/>
              </a:lnSpc>
              <a:spcAft>
                <a:spcPts val="1200"/>
              </a:spcAft>
              <a:buClr>
                <a:schemeClr val="tx1"/>
              </a:buClr>
            </a:pPr>
            <a:r>
              <a:rPr lang="en-US" sz="2200" smtClean="0">
                <a:latin typeface="Times New Roman" pitchFamily="18" charset="0"/>
                <a:cs typeface="Times New Roman" pitchFamily="18" charset="0"/>
                <a:sym typeface="Wingdings" pitchFamily="2" charset="2"/>
              </a:rPr>
              <a:t> Từ ý tưởng chia chương trình thành các hàm  Nhóm một số hàm thành các module  Lập trình module.</a:t>
            </a:r>
            <a:endParaRPr lang="en-US" sz="2200" smtClean="0">
              <a:latin typeface="Times New Roman" pitchFamily="18" charset="0"/>
              <a:cs typeface="Times New Roman" pitchFamily="18" charset="0"/>
            </a:endParaRPr>
          </a:p>
        </p:txBody>
      </p:sp>
      <p:pic>
        <p:nvPicPr>
          <p:cNvPr id="4" name="Picture 4"/>
          <p:cNvPicPr>
            <a:picLocks noChangeAspect="1" noChangeArrowheads="1"/>
          </p:cNvPicPr>
          <p:nvPr/>
        </p:nvPicPr>
        <p:blipFill>
          <a:blip r:embed="rId2"/>
          <a:srcRect/>
          <a:stretch>
            <a:fillRect/>
          </a:stretch>
        </p:blipFill>
        <p:spPr bwMode="auto">
          <a:xfrm>
            <a:off x="4381500" y="3962400"/>
            <a:ext cx="4762500" cy="2895600"/>
          </a:xfrm>
          <a:prstGeom prst="rect">
            <a:avLst/>
          </a:prstGeom>
          <a:noFill/>
          <a:ln w="9525">
            <a:noFill/>
            <a:miter lim="800000"/>
            <a:headEnd/>
            <a:tailEnd/>
          </a:ln>
        </p:spPr>
      </p:pic>
      <p:sp>
        <p:nvSpPr>
          <p:cNvPr id="5" name="TextBox 4"/>
          <p:cNvSpPr txBox="1"/>
          <p:nvPr/>
        </p:nvSpPr>
        <p:spPr>
          <a:xfrm>
            <a:off x="304800" y="3810000"/>
            <a:ext cx="4191000" cy="3139321"/>
          </a:xfrm>
          <a:prstGeom prst="rect">
            <a:avLst/>
          </a:prstGeom>
          <a:noFill/>
        </p:spPr>
        <p:txBody>
          <a:bodyPr wrap="square" rtlCol="0">
            <a:spAutoFit/>
          </a:bodyPr>
          <a:lstStyle/>
          <a:p>
            <a:pPr marL="609600" indent="-609600"/>
            <a:r>
              <a:rPr lang="en-US" sz="2000" b="1" smtClean="0">
                <a:latin typeface="Times New Roman" pitchFamily="18" charset="0"/>
                <a:cs typeface="Times New Roman" pitchFamily="18" charset="0"/>
              </a:rPr>
              <a:t>Với lập trình module:</a:t>
            </a:r>
          </a:p>
          <a:p>
            <a:pPr marL="533400" indent="-646113">
              <a:buFont typeface="Times New Roman" pitchFamily="18" charset="0"/>
              <a:buChar char="−"/>
            </a:pPr>
            <a:r>
              <a:rPr lang="en-US" sz="2000" smtClean="0">
                <a:latin typeface="Times New Roman" pitchFamily="18" charset="0"/>
                <a:cs typeface="Times New Roman" pitchFamily="18" charset="0"/>
              </a:rPr>
              <a:t>Các thủ tục có chung một chức năng được nhóm lại với nhau</a:t>
            </a:r>
          </a:p>
          <a:p>
            <a:pPr marL="533400" indent="-646113">
              <a:buFont typeface="Times New Roman" pitchFamily="18" charset="0"/>
              <a:buChar char="−"/>
            </a:pPr>
            <a:r>
              <a:rPr lang="en-US" sz="2000" smtClean="0">
                <a:latin typeface="Times New Roman" pitchFamily="18" charset="0"/>
                <a:cs typeface="Times New Roman" pitchFamily="18" charset="0"/>
              </a:rPr>
              <a:t>Chương trình được chia thành nhiều phần nhỏ</a:t>
            </a:r>
          </a:p>
          <a:p>
            <a:pPr marL="533400" indent="-646113">
              <a:buFont typeface="Times New Roman" pitchFamily="18" charset="0"/>
              <a:buChar char="−"/>
            </a:pPr>
            <a:r>
              <a:rPr lang="en-US" sz="2000" smtClean="0">
                <a:latin typeface="Times New Roman" pitchFamily="18" charset="0"/>
                <a:cs typeface="Times New Roman" pitchFamily="18" charset="0"/>
              </a:rPr>
              <a:t>Các phần tương tác thông qua việc gọi thủ tục</a:t>
            </a:r>
          </a:p>
          <a:p>
            <a:pPr marL="533400" indent="-646113">
              <a:buFont typeface="Times New Roman" pitchFamily="18" charset="0"/>
              <a:buChar char="−"/>
            </a:pPr>
            <a:r>
              <a:rPr lang="en-US" sz="2000" smtClean="0">
                <a:latin typeface="Times New Roman" pitchFamily="18" charset="0"/>
                <a:cs typeface="Times New Roman" pitchFamily="18" charset="0"/>
              </a:rPr>
              <a:t>Mỗi mô đun có dữ liệu của riêng nó</a:t>
            </a:r>
          </a:p>
          <a:p>
            <a:endParaRPr lang="vi-VN"/>
          </a:p>
        </p:txBody>
      </p:sp>
      <p:sp>
        <p:nvSpPr>
          <p:cNvPr id="8" name="Slide Number Placeholder 7"/>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27038"/>
            <a:ext cx="8229600" cy="792162"/>
          </a:xfrm>
        </p:spPr>
        <p:txBody>
          <a:bodyPr>
            <a:normAutofit/>
          </a:bodyPr>
          <a:lstStyle/>
          <a:p>
            <a:pPr algn="ctr"/>
            <a:r>
              <a:rPr lang="en-US" sz="3400" b="1" smtClean="0">
                <a:solidFill>
                  <a:srgbClr val="0070C0"/>
                </a:solidFill>
                <a:latin typeface="Times New Roman" pitchFamily="18" charset="0"/>
                <a:cs typeface="Times New Roman" pitchFamily="18" charset="0"/>
              </a:rPr>
              <a:t>Lập trình cấu trúc</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381000" y="1295400"/>
            <a:ext cx="8763000" cy="2819400"/>
          </a:xfrm>
        </p:spPr>
        <p:txBody>
          <a:bodyPr>
            <a:noAutofit/>
          </a:bodyPr>
          <a:lstStyle/>
          <a:p>
            <a:pPr marL="609600" indent="-609600"/>
            <a:r>
              <a:rPr lang="en-US" sz="2200" smtClean="0">
                <a:latin typeface="Times New Roman" pitchFamily="18" charset="0"/>
                <a:cs typeface="Times New Roman" pitchFamily="18" charset="0"/>
              </a:rPr>
              <a:t>Ra đời vào những năm 70:</a:t>
            </a:r>
          </a:p>
          <a:p>
            <a:pPr marL="609600" indent="-609600"/>
            <a:r>
              <a:rPr lang="en-US" sz="2200" smtClean="0">
                <a:latin typeface="Times New Roman" pitchFamily="18" charset="0"/>
                <a:cs typeface="Times New Roman" pitchFamily="18" charset="0"/>
              </a:rPr>
              <a:t>Chương trình được chia nhỏ thành chương trình con:</a:t>
            </a:r>
          </a:p>
          <a:p>
            <a:pPr marL="990600" lvl="1" indent="-646113"/>
            <a:r>
              <a:rPr lang="en-US" sz="2200" smtClean="0">
                <a:solidFill>
                  <a:schemeClr val="tx1"/>
                </a:solidFill>
                <a:latin typeface="Times New Roman" pitchFamily="18" charset="0"/>
                <a:cs typeface="Times New Roman" pitchFamily="18" charset="0"/>
              </a:rPr>
              <a:t>Thủ tục (Procedure)</a:t>
            </a:r>
          </a:p>
          <a:p>
            <a:pPr marL="990600" lvl="1" indent="-646113"/>
            <a:r>
              <a:rPr lang="en-US" sz="2200" smtClean="0">
                <a:solidFill>
                  <a:schemeClr val="tx1"/>
                </a:solidFill>
                <a:latin typeface="Times New Roman" pitchFamily="18" charset="0"/>
                <a:cs typeface="Times New Roman" pitchFamily="18" charset="0"/>
              </a:rPr>
              <a:t>Hàm (Function)</a:t>
            </a:r>
          </a:p>
          <a:p>
            <a:pPr marL="609600" indent="-609600"/>
            <a:r>
              <a:rPr lang="en-US" sz="2200" smtClean="0">
                <a:latin typeface="Times New Roman" pitchFamily="18" charset="0"/>
                <a:cs typeface="Times New Roman" pitchFamily="18" charset="0"/>
              </a:rPr>
              <a:t>Các chương trình con:</a:t>
            </a:r>
          </a:p>
          <a:p>
            <a:pPr marL="990600" lvl="1" indent="-646113"/>
            <a:r>
              <a:rPr lang="en-US" sz="2200" smtClean="0">
                <a:solidFill>
                  <a:schemeClr val="tx1"/>
                </a:solidFill>
                <a:latin typeface="Times New Roman" pitchFamily="18" charset="0"/>
                <a:cs typeface="Times New Roman" pitchFamily="18" charset="0"/>
              </a:rPr>
              <a:t>Độc lập với nhau và có dữ liệu riêng</a:t>
            </a:r>
          </a:p>
          <a:p>
            <a:pPr marL="990600" lvl="1" indent="-646113"/>
            <a:r>
              <a:rPr lang="en-US" sz="2200" smtClean="0">
                <a:solidFill>
                  <a:schemeClr val="tx1"/>
                </a:solidFill>
                <a:latin typeface="Times New Roman" pitchFamily="18" charset="0"/>
                <a:cs typeface="Times New Roman" pitchFamily="18" charset="0"/>
              </a:rPr>
              <a:t>Trao đổi qua: tham số và biến toàn cục</a:t>
            </a:r>
          </a:p>
        </p:txBody>
      </p:sp>
      <p:pic>
        <p:nvPicPr>
          <p:cNvPr id="6" name="Picture 4" descr="\begin{figure}&#10;{\centerline{&#10;\psfig {file=FIGS/procedural.eps,width=5cm}&#10;}}\end{figure}"/>
          <p:cNvPicPr>
            <a:picLocks noChangeAspect="1" noChangeArrowheads="1"/>
          </p:cNvPicPr>
          <p:nvPr/>
        </p:nvPicPr>
        <p:blipFill>
          <a:blip r:embed="rId2"/>
          <a:srcRect/>
          <a:stretch>
            <a:fillRect/>
          </a:stretch>
        </p:blipFill>
        <p:spPr bwMode="auto">
          <a:xfrm>
            <a:off x="5105400" y="4114800"/>
            <a:ext cx="3657600" cy="2486025"/>
          </a:xfrm>
          <a:prstGeom prst="rect">
            <a:avLst/>
          </a:prstGeom>
          <a:noFill/>
          <a:ln w="9525">
            <a:noFill/>
            <a:miter lim="800000"/>
            <a:headEnd/>
            <a:tailEnd/>
          </a:ln>
        </p:spPr>
      </p:pic>
      <p:sp>
        <p:nvSpPr>
          <p:cNvPr id="8" name="Slide Number Placeholder 7"/>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50838"/>
            <a:ext cx="8229600" cy="792162"/>
          </a:xfrm>
        </p:spPr>
        <p:txBody>
          <a:bodyPr>
            <a:normAutofit/>
          </a:bodyPr>
          <a:lstStyle/>
          <a:p>
            <a:r>
              <a:rPr lang="en-US" sz="3400" b="1" smtClean="0">
                <a:solidFill>
                  <a:srgbClr val="0070C0"/>
                </a:solidFill>
                <a:latin typeface="Times New Roman" pitchFamily="18" charset="0"/>
                <a:cs typeface="Times New Roman" pitchFamily="18" charset="0"/>
              </a:rPr>
              <a:t>Lập trình cấu trúc</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381000" y="1219200"/>
            <a:ext cx="8763000" cy="5638800"/>
          </a:xfrm>
        </p:spPr>
        <p:txBody>
          <a:bodyPr>
            <a:noAutofit/>
          </a:bodyPr>
          <a:lstStyle/>
          <a:p>
            <a:pPr marL="609600" indent="-609600"/>
            <a:r>
              <a:rPr lang="en-US" sz="2400" b="1" smtClean="0">
                <a:latin typeface="Times New Roman" pitchFamily="18" charset="0"/>
                <a:cs typeface="Times New Roman" pitchFamily="18" charset="0"/>
              </a:rPr>
              <a:t>Đặc trưng:  Chương trình= Cấu trúc dữ liệu + giải thuật.</a:t>
            </a:r>
          </a:p>
          <a:p>
            <a:pPr marL="1009650" lvl="1" indent="-609600"/>
            <a:r>
              <a:rPr lang="en-US" sz="2000" smtClean="0">
                <a:solidFill>
                  <a:schemeClr val="tx1"/>
                </a:solidFill>
                <a:latin typeface="Times New Roman" pitchFamily="18" charset="0"/>
                <a:cs typeface="Times New Roman" pitchFamily="18" charset="0"/>
              </a:rPr>
              <a:t>Cấu trúc dữ liệu: Là cách tổ chức dữ liệu.</a:t>
            </a:r>
          </a:p>
          <a:p>
            <a:pPr marL="1009650" lvl="1" indent="-609600"/>
            <a:r>
              <a:rPr lang="en-US" sz="2000" smtClean="0">
                <a:solidFill>
                  <a:schemeClr val="tx1"/>
                </a:solidFill>
                <a:latin typeface="Times New Roman" pitchFamily="18" charset="0"/>
                <a:cs typeface="Times New Roman" pitchFamily="18" charset="0"/>
              </a:rPr>
              <a:t>Giải thuật: Là quy trình để thực hiện một công việc xác định.</a:t>
            </a:r>
          </a:p>
          <a:p>
            <a:pPr marL="1009650" lvl="1" indent="-609600"/>
            <a:r>
              <a:rPr lang="en-US" sz="2000" smtClean="0">
                <a:solidFill>
                  <a:schemeClr val="tx1"/>
                </a:solidFill>
                <a:latin typeface="Times New Roman" pitchFamily="18" charset="0"/>
                <a:cs typeface="Times New Roman" pitchFamily="18" charset="0"/>
              </a:rPr>
              <a:t>Giải thuật thường phải đi kèm với một cấu trúc dữ liệu xác định.</a:t>
            </a:r>
          </a:p>
          <a:p>
            <a:pPr marL="609600" indent="-609600"/>
            <a:r>
              <a:rPr lang="en-US" sz="2400" b="1" smtClean="0">
                <a:latin typeface="Times New Roman" pitchFamily="18" charset="0"/>
                <a:cs typeface="Times New Roman" pitchFamily="18" charset="0"/>
              </a:rPr>
              <a:t>Chú ý:</a:t>
            </a:r>
          </a:p>
          <a:p>
            <a:pPr marL="1009650" lvl="1" indent="-609600"/>
            <a:r>
              <a:rPr lang="en-US" sz="2000" smtClean="0">
                <a:solidFill>
                  <a:schemeClr val="tx1"/>
                </a:solidFill>
                <a:latin typeface="Times New Roman" pitchFamily="18" charset="0"/>
                <a:cs typeface="Times New Roman" pitchFamily="18" charset="0"/>
              </a:rPr>
              <a:t>Mỗi chương trình con có thể được gọi thực hiện nhiều lần trong một chương trình chính.</a:t>
            </a:r>
          </a:p>
          <a:p>
            <a:pPr marL="1009650" lvl="1" indent="-609600"/>
            <a:r>
              <a:rPr lang="en-US" sz="2000" smtClean="0">
                <a:solidFill>
                  <a:schemeClr val="tx1"/>
                </a:solidFill>
                <a:latin typeface="Times New Roman" pitchFamily="18" charset="0"/>
                <a:cs typeface="Times New Roman" pitchFamily="18" charset="0"/>
              </a:rPr>
              <a:t>Các chương trình con có thể gọi đến thực hiện theo một thứ tự bất kỳ.</a:t>
            </a:r>
          </a:p>
          <a:p>
            <a:pPr marL="609600" indent="-609600"/>
            <a:r>
              <a:rPr lang="en-US" sz="2400" b="1" smtClean="0">
                <a:latin typeface="Times New Roman" pitchFamily="18" charset="0"/>
                <a:cs typeface="Times New Roman" pitchFamily="18" charset="0"/>
              </a:rPr>
              <a:t>Ưu điểm:</a:t>
            </a:r>
          </a:p>
          <a:p>
            <a:pPr marL="1009650" lvl="1" indent="-609600"/>
            <a:r>
              <a:rPr lang="en-US" sz="2000" smtClean="0">
                <a:solidFill>
                  <a:schemeClr val="tx1"/>
                </a:solidFill>
                <a:latin typeface="Times New Roman" pitchFamily="18" charset="0"/>
                <a:cs typeface="Times New Roman" pitchFamily="18" charset="0"/>
              </a:rPr>
              <a:t>Chương trình sáng sủa dễ hiểu, dễ theo dõi.</a:t>
            </a:r>
          </a:p>
          <a:p>
            <a:pPr marL="609600" indent="-609600"/>
            <a:r>
              <a:rPr lang="en-US" sz="2400" b="1" smtClean="0">
                <a:latin typeface="Times New Roman" pitchFamily="18" charset="0"/>
                <a:cs typeface="Times New Roman" pitchFamily="18" charset="0"/>
              </a:rPr>
              <a:t>Nhược điểm:</a:t>
            </a:r>
          </a:p>
          <a:p>
            <a:pPr marL="1009650" lvl="1" indent="-609600"/>
            <a:r>
              <a:rPr lang="en-US" sz="2000" smtClean="0">
                <a:solidFill>
                  <a:schemeClr val="tx1"/>
                </a:solidFill>
                <a:latin typeface="Times New Roman" pitchFamily="18" charset="0"/>
                <a:cs typeface="Times New Roman" pitchFamily="18" charset="0"/>
              </a:rPr>
              <a:t>Khó sử dụng lại mã lệnh (vì mỗi cấu trúc dữ liệu đi với một giải thuật).</a:t>
            </a:r>
          </a:p>
          <a:p>
            <a:pPr marL="1009650" lvl="1" indent="-609600"/>
            <a:r>
              <a:rPr lang="en-US" sz="2000" smtClean="0">
                <a:solidFill>
                  <a:schemeClr val="tx1"/>
                </a:solidFill>
                <a:latin typeface="Times New Roman" pitchFamily="18" charset="0"/>
                <a:cs typeface="Times New Roman" pitchFamily="18" charset="0"/>
              </a:rPr>
              <a:t>Không phù hợp với các phần mềm lớn.</a:t>
            </a:r>
          </a:p>
          <a:p>
            <a:pPr marL="1009650" lvl="1" indent="-609600"/>
            <a:r>
              <a:rPr lang="en-US" sz="2000" smtClean="0">
                <a:solidFill>
                  <a:schemeClr val="tx1"/>
                </a:solidFill>
                <a:latin typeface="Times New Roman" pitchFamily="18" charset="0"/>
                <a:cs typeface="Times New Roman" pitchFamily="18" charset="0"/>
              </a:rPr>
              <a:t>Vấn đề chia chương trình lớn thành các chương trình con như thế nào cho phù hợp và hiệu quả?</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55638"/>
            <a:ext cx="8229600" cy="792162"/>
          </a:xfrm>
        </p:spPr>
        <p:txBody>
          <a:bodyPr>
            <a:normAutofit/>
          </a:bodyPr>
          <a:lstStyle/>
          <a:p>
            <a:r>
              <a:rPr lang="en-US" sz="3400" b="1" smtClean="0">
                <a:solidFill>
                  <a:srgbClr val="0070C0"/>
                </a:solidFill>
                <a:latin typeface="Times New Roman" pitchFamily="18" charset="0"/>
                <a:cs typeface="Times New Roman" pitchFamily="18" charset="0"/>
              </a:rPr>
              <a:t>Nhược điểm của lập trình truyền thống</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381000" y="1905000"/>
            <a:ext cx="8458200" cy="4724400"/>
          </a:xfrm>
        </p:spPr>
        <p:txBody>
          <a:bodyPr>
            <a:noAutofit/>
          </a:bodyPr>
          <a:lstStyle/>
          <a:p>
            <a:pPr marL="990600" lvl="1" indent="-646113"/>
            <a:r>
              <a:rPr lang="en-US" smtClean="0">
                <a:solidFill>
                  <a:schemeClr val="tx1"/>
                </a:solidFill>
                <a:latin typeface="Times New Roman" pitchFamily="18" charset="0"/>
                <a:cs typeface="Times New Roman" pitchFamily="18" charset="0"/>
              </a:rPr>
              <a:t>Chương trình khó kiểm soát</a:t>
            </a:r>
          </a:p>
          <a:p>
            <a:pPr marL="990600" lvl="1" indent="-646113"/>
            <a:r>
              <a:rPr lang="en-US" smtClean="0">
                <a:solidFill>
                  <a:schemeClr val="tx1"/>
                </a:solidFill>
                <a:latin typeface="Times New Roman" pitchFamily="18" charset="0"/>
                <a:cs typeface="Times New Roman" pitchFamily="18" charset="0"/>
              </a:rPr>
              <a:t>Khó khăn trong việc bổ sung, nâng cấp chương trình</a:t>
            </a:r>
          </a:p>
          <a:p>
            <a:pPr marL="990600" lvl="1" indent="-646113"/>
            <a:r>
              <a:rPr lang="en-US" smtClean="0">
                <a:solidFill>
                  <a:schemeClr val="tx1"/>
                </a:solidFill>
                <a:latin typeface="Times New Roman" pitchFamily="18" charset="0"/>
                <a:cs typeface="Times New Roman" pitchFamily="18" charset="0"/>
              </a:rPr>
              <a:t>Khi thay đổi, bổ sung dữ liệu dùng chung thì phải thay đổi gần như tất cả thủ tục/hàm liên quan</a:t>
            </a:r>
          </a:p>
          <a:p>
            <a:pPr marL="990600" lvl="1" indent="-646113"/>
            <a:r>
              <a:rPr lang="en-US" smtClean="0">
                <a:solidFill>
                  <a:schemeClr val="tx1"/>
                </a:solidFill>
                <a:latin typeface="Times New Roman" pitchFamily="18" charset="0"/>
                <a:cs typeface="Times New Roman" pitchFamily="18" charset="0"/>
              </a:rPr>
              <a:t>Khả năng sử dụng lại các đoạn mã chưa nhiều</a:t>
            </a:r>
          </a:p>
          <a:p>
            <a:pPr marL="990600" lvl="1" indent="-646113"/>
            <a:r>
              <a:rPr lang="en-US" smtClean="0">
                <a:solidFill>
                  <a:schemeClr val="tx1"/>
                </a:solidFill>
                <a:latin typeface="Times New Roman" pitchFamily="18" charset="0"/>
                <a:cs typeface="Times New Roman" pitchFamily="18" charset="0"/>
              </a:rPr>
              <a:t>Không mô tả đầy đủ, trung thực hệ thống trong thực tế</a:t>
            </a:r>
          </a:p>
          <a:p>
            <a:pPr marL="609600" indent="-609600"/>
            <a:endParaRPr lang="en-US" sz="180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55638"/>
            <a:ext cx="8229600" cy="792162"/>
          </a:xfrm>
        </p:spPr>
        <p:txBody>
          <a:bodyPr>
            <a:normAutofit/>
          </a:bodyPr>
          <a:lstStyle/>
          <a:p>
            <a:pPr algn="ctr"/>
            <a:r>
              <a:rPr lang="en-US" sz="3400" b="1" smtClean="0">
                <a:solidFill>
                  <a:srgbClr val="0070C0"/>
                </a:solidFill>
                <a:latin typeface="Times New Roman" pitchFamily="18" charset="0"/>
                <a:cs typeface="Times New Roman" pitchFamily="18" charset="0"/>
              </a:rPr>
              <a:t>Mô hình thế giới thực ( real-world)</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915400" cy="5029200"/>
          </a:xfrm>
        </p:spPr>
        <p:txBody>
          <a:bodyPr>
            <a:noAutofit/>
          </a:bodyPr>
          <a:lstStyle/>
          <a:p>
            <a:pPr marL="609600" indent="-609600"/>
            <a:r>
              <a:rPr lang="en-US" sz="2200" smtClean="0">
                <a:latin typeface="Times New Roman" pitchFamily="18" charset="0"/>
                <a:cs typeface="Times New Roman" pitchFamily="18" charset="0"/>
              </a:rPr>
              <a:t>Trong thực tế, chúng ta làm việc với các đối tượng như  người, xe ô tô…Nó không phải là dữ liệu hay các hàm. Một đối tượng thế giới thực phức tạp bao gồm thuộc tính(attributes) và cách hành xử (behavior).</a:t>
            </a:r>
          </a:p>
          <a:p>
            <a:pPr marL="609600" indent="-609600"/>
            <a:r>
              <a:rPr lang="en-US" sz="2200" smtClean="0">
                <a:latin typeface="Times New Roman" pitchFamily="18" charset="0"/>
                <a:cs typeface="Times New Roman" pitchFamily="18" charset="0"/>
              </a:rPr>
              <a:t>Thuộc tính:</a:t>
            </a:r>
          </a:p>
          <a:p>
            <a:pPr marL="1009650" lvl="1" indent="-609600"/>
            <a:r>
              <a:rPr lang="en-US" sz="2200" smtClean="0">
                <a:solidFill>
                  <a:schemeClr val="tx1"/>
                </a:solidFill>
                <a:latin typeface="Times New Roman" pitchFamily="18" charset="0"/>
                <a:cs typeface="Times New Roman" pitchFamily="18" charset="0"/>
              </a:rPr>
              <a:t>Người: Chiều cao, cân nặng…</a:t>
            </a:r>
          </a:p>
          <a:p>
            <a:pPr marL="1009650" lvl="1" indent="-609600"/>
            <a:r>
              <a:rPr lang="en-US" sz="2200" smtClean="0">
                <a:solidFill>
                  <a:schemeClr val="tx1"/>
                </a:solidFill>
                <a:latin typeface="Times New Roman" pitchFamily="18" charset="0"/>
                <a:cs typeface="Times New Roman" pitchFamily="18" charset="0"/>
              </a:rPr>
              <a:t>Xe ô tô: Màu xe, năm sản xuất…</a:t>
            </a:r>
          </a:p>
          <a:p>
            <a:pPr marL="609600" indent="-609600"/>
            <a:r>
              <a:rPr lang="en-US" sz="2200" smtClean="0">
                <a:latin typeface="Times New Roman" pitchFamily="18" charset="0"/>
                <a:cs typeface="Times New Roman" pitchFamily="18" charset="0"/>
              </a:rPr>
              <a:t>Cách hành xử: </a:t>
            </a:r>
          </a:p>
          <a:p>
            <a:pPr marL="1009650" lvl="1" indent="-609600"/>
            <a:r>
              <a:rPr lang="en-US" sz="2200" smtClean="0">
                <a:solidFill>
                  <a:schemeClr val="tx1"/>
                </a:solidFill>
                <a:latin typeface="Times New Roman" pitchFamily="18" charset="0"/>
                <a:cs typeface="Times New Roman" pitchFamily="18" charset="0"/>
              </a:rPr>
              <a:t>Là cái mà đối tượng thực hiện để đáp ứng lại tác động của các tác nhân.</a:t>
            </a:r>
          </a:p>
          <a:p>
            <a:pPr marL="1009650" lvl="1" indent="-609600"/>
            <a:r>
              <a:rPr lang="en-US" sz="2200" smtClean="0">
                <a:solidFill>
                  <a:schemeClr val="tx1"/>
                </a:solidFill>
                <a:latin typeface="Times New Roman" pitchFamily="18" charset="0"/>
                <a:cs typeface="Times New Roman" pitchFamily="18" charset="0"/>
              </a:rPr>
              <a:t>Nó giống như các hàm. Được triệu gọi để thực hiện một chức năng gì đó.</a:t>
            </a:r>
          </a:p>
          <a:p>
            <a:pPr marL="609600" indent="-609600"/>
            <a:r>
              <a:rPr lang="en-US" sz="2200" smtClean="0">
                <a:latin typeface="Times New Roman" pitchFamily="18" charset="0"/>
                <a:cs typeface="Times New Roman" pitchFamily="18" charset="0"/>
              </a:rPr>
              <a:t>Đối tượng không phải là dữ liệu, hay chức năng đơn thuần mà nó bao hàm cả hai cái đó trong nó.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9600" cy="792162"/>
          </a:xfrm>
        </p:spPr>
        <p:txBody>
          <a:bodyPr>
            <a:normAutofit/>
          </a:bodyPr>
          <a:lstStyle/>
          <a:p>
            <a:pPr algn="ctr"/>
            <a:r>
              <a:rPr lang="en-US" sz="3400" b="1" smtClean="0">
                <a:solidFill>
                  <a:srgbClr val="0070C0"/>
                </a:solidFill>
                <a:latin typeface="Times New Roman" pitchFamily="18" charset="0"/>
                <a:cs typeface="Times New Roman" pitchFamily="18" charset="0"/>
              </a:rPr>
              <a:t>Lập trình hướng đối tượng</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381000" y="1600200"/>
            <a:ext cx="8763000" cy="4572000"/>
          </a:xfrm>
        </p:spPr>
        <p:txBody>
          <a:bodyPr>
            <a:noAutofit/>
          </a:bodyPr>
          <a:lstStyle/>
          <a:p>
            <a:pPr marL="609600" indent="-609600"/>
            <a:r>
              <a:rPr lang="en-US" sz="2200" smtClean="0">
                <a:latin typeface="Times New Roman" pitchFamily="18" charset="0"/>
                <a:cs typeface="Times New Roman" pitchFamily="18" charset="0"/>
              </a:rPr>
              <a:t>Xuất phát từ hai hạn chế của lập trình cấu trúc:</a:t>
            </a:r>
          </a:p>
          <a:p>
            <a:pPr marL="1009650" lvl="1" indent="-609600"/>
            <a:r>
              <a:rPr lang="en-US" sz="2000" smtClean="0">
                <a:solidFill>
                  <a:schemeClr val="tx1"/>
                </a:solidFill>
                <a:latin typeface="Times New Roman" pitchFamily="18" charset="0"/>
                <a:cs typeface="Times New Roman" pitchFamily="18" charset="0"/>
              </a:rPr>
              <a:t>Không kiểm soát được sự thay đổi dữ liệu khi có nhiều chương trình con cùng thay đổi một biến chung.</a:t>
            </a:r>
          </a:p>
          <a:p>
            <a:pPr marL="1009650" lvl="1" indent="-609600"/>
            <a:r>
              <a:rPr lang="en-US" sz="2000" smtClean="0">
                <a:solidFill>
                  <a:schemeClr val="tx1"/>
                </a:solidFill>
                <a:latin typeface="Times New Roman" pitchFamily="18" charset="0"/>
                <a:cs typeface="Times New Roman" pitchFamily="18" charset="0"/>
              </a:rPr>
              <a:t>Không tiết kiệm được tài nguyên.</a:t>
            </a:r>
          </a:p>
          <a:p>
            <a:pPr marL="609600" indent="-609600"/>
            <a:r>
              <a:rPr lang="en-US" sz="2200" smtClean="0">
                <a:latin typeface="Times New Roman" pitchFamily="18" charset="0"/>
                <a:cs typeface="Times New Roman" pitchFamily="18" charset="0"/>
              </a:rPr>
              <a:t>Lập trình hướng đối tượng ra đời để giải quyết các bài toán lớn với mục đích:</a:t>
            </a:r>
          </a:p>
          <a:p>
            <a:pPr marL="1009650" lvl="1" indent="-609600"/>
            <a:r>
              <a:rPr lang="en-US" sz="2000" smtClean="0">
                <a:solidFill>
                  <a:schemeClr val="tx1"/>
                </a:solidFill>
                <a:latin typeface="Times New Roman" pitchFamily="18" charset="0"/>
                <a:cs typeface="Times New Roman" pitchFamily="18" charset="0"/>
              </a:rPr>
              <a:t>Đóng gói dữ liệu (hạn chế truy cập). (Thể hiện việc trừu tượng hóa, đóng goi vào các lớp)</a:t>
            </a:r>
          </a:p>
          <a:p>
            <a:pPr marL="1009650" lvl="1" indent="-609600"/>
            <a:r>
              <a:rPr lang="en-US" sz="2000" smtClean="0">
                <a:solidFill>
                  <a:schemeClr val="tx1"/>
                </a:solidFill>
                <a:latin typeface="Times New Roman" pitchFamily="18" charset="0"/>
                <a:cs typeface="Times New Roman" pitchFamily="18" charset="0"/>
              </a:rPr>
              <a:t>Cho phép sử dụng lại mã nguồn (Thể hiện ở việc kế thừa).</a:t>
            </a:r>
          </a:p>
          <a:p>
            <a:pPr marL="609600" indent="-609600"/>
            <a:r>
              <a:rPr lang="en-US" sz="2200" smtClean="0">
                <a:latin typeface="Times New Roman" pitchFamily="18" charset="0"/>
                <a:cs typeface="Times New Roman" pitchFamily="18" charset="0"/>
              </a:rPr>
              <a:t>Ý tượng: Kết hợp cả dữ liệu và các hàm (function) vào cùng một đơn vị gọi là đối tượng. Trong đó các function sẽ thực hiện các thao tác trên dữ liệu.</a:t>
            </a:r>
          </a:p>
          <a:p>
            <a:pPr marL="609600" indent="-609600"/>
            <a:endParaRPr lang="en-US" sz="240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9438"/>
            <a:ext cx="8229600" cy="792162"/>
          </a:xfrm>
        </p:spPr>
        <p:txBody>
          <a:bodyPr>
            <a:normAutofit/>
          </a:bodyPr>
          <a:lstStyle/>
          <a:p>
            <a:pPr algn="ctr"/>
            <a:r>
              <a:rPr lang="en-US" sz="3400" b="1" smtClean="0">
                <a:solidFill>
                  <a:srgbClr val="0070C0"/>
                </a:solidFill>
                <a:latin typeface="Times New Roman" pitchFamily="18" charset="0"/>
                <a:cs typeface="Times New Roman" pitchFamily="18" charset="0"/>
              </a:rPr>
              <a:t>Lập trình hướng đối tượng</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381000" y="1447800"/>
            <a:ext cx="8763000" cy="4648200"/>
          </a:xfrm>
        </p:spPr>
        <p:txBody>
          <a:bodyPr>
            <a:noAutofit/>
          </a:bodyPr>
          <a:lstStyle/>
          <a:p>
            <a:pPr marL="609600" indent="-609600" defTabSz="746125">
              <a:spcAft>
                <a:spcPts val="600"/>
              </a:spcAft>
            </a:pPr>
            <a:r>
              <a:rPr lang="en-US" sz="2400" b="1" smtClean="0">
                <a:latin typeface="Times New Roman" pitchFamily="18" charset="0"/>
                <a:cs typeface="Times New Roman" pitchFamily="18" charset="0"/>
              </a:rPr>
              <a:t>Là phương pháp lập trình:</a:t>
            </a:r>
          </a:p>
          <a:p>
            <a:pPr marL="723900" lvl="1" indent="-379413" defTabSz="746125">
              <a:spcAft>
                <a:spcPts val="600"/>
              </a:spcAft>
            </a:pPr>
            <a:r>
              <a:rPr lang="en-US" sz="2400" smtClean="0">
                <a:solidFill>
                  <a:schemeClr val="tx1"/>
                </a:solidFill>
                <a:latin typeface="Times New Roman" pitchFamily="18" charset="0"/>
                <a:cs typeface="Times New Roman" pitchFamily="18" charset="0"/>
              </a:rPr>
              <a:t>Mô tả chính xác các đối tượng trong thế giới</a:t>
            </a:r>
          </a:p>
          <a:p>
            <a:pPr marL="723900" lvl="1" indent="-379413" defTabSz="746125">
              <a:spcAft>
                <a:spcPts val="600"/>
              </a:spcAft>
            </a:pPr>
            <a:r>
              <a:rPr lang="en-US" sz="2400" smtClean="0">
                <a:solidFill>
                  <a:schemeClr val="tx1"/>
                </a:solidFill>
                <a:latin typeface="Times New Roman" pitchFamily="18" charset="0"/>
                <a:cs typeface="Times New Roman" pitchFamily="18" charset="0"/>
              </a:rPr>
              <a:t>Lấy đối tượng làm nền tảng xây dựng thuật toán</a:t>
            </a:r>
          </a:p>
          <a:p>
            <a:pPr marL="723900" lvl="1" indent="-379413" defTabSz="746125">
              <a:spcAft>
                <a:spcPts val="600"/>
              </a:spcAft>
            </a:pPr>
            <a:r>
              <a:rPr lang="en-US" sz="2400" smtClean="0">
                <a:solidFill>
                  <a:schemeClr val="tx1"/>
                </a:solidFill>
                <a:latin typeface="Times New Roman" pitchFamily="18" charset="0"/>
                <a:cs typeface="Times New Roman" pitchFamily="18" charset="0"/>
              </a:rPr>
              <a:t>Thiết kế xoay quanh dữ liệu của hệ thống</a:t>
            </a:r>
          </a:p>
          <a:p>
            <a:pPr marL="723900" lvl="1" indent="-379413" defTabSz="746125">
              <a:spcAft>
                <a:spcPts val="600"/>
              </a:spcAft>
            </a:pPr>
            <a:r>
              <a:rPr lang="en-US" sz="2400" smtClean="0">
                <a:solidFill>
                  <a:schemeClr val="tx1"/>
                </a:solidFill>
                <a:latin typeface="Times New Roman" pitchFamily="18" charset="0"/>
                <a:cs typeface="Times New Roman" pitchFamily="18" charset="0"/>
              </a:rPr>
              <a:t>Chương trình được chia thành các lớp đối tượng</a:t>
            </a:r>
          </a:p>
          <a:p>
            <a:pPr marL="723900" lvl="1" indent="-379413" defTabSz="746125">
              <a:spcAft>
                <a:spcPts val="600"/>
              </a:spcAft>
            </a:pPr>
            <a:r>
              <a:rPr lang="en-US" sz="2400" smtClean="0">
                <a:solidFill>
                  <a:schemeClr val="tx1"/>
                </a:solidFill>
                <a:latin typeface="Times New Roman" pitchFamily="18" charset="0"/>
                <a:cs typeface="Times New Roman" pitchFamily="18" charset="0"/>
              </a:rPr>
              <a:t>Dữ liệu được đóng gói, che dấu và bảo vệ</a:t>
            </a:r>
          </a:p>
          <a:p>
            <a:pPr marL="723900" lvl="1" indent="-379413" defTabSz="746125">
              <a:spcAft>
                <a:spcPts val="600"/>
              </a:spcAft>
            </a:pPr>
            <a:r>
              <a:rPr lang="en-US" sz="2400" smtClean="0">
                <a:solidFill>
                  <a:schemeClr val="tx1"/>
                </a:solidFill>
                <a:latin typeface="Times New Roman" pitchFamily="18" charset="0"/>
                <a:cs typeface="Times New Roman" pitchFamily="18" charset="0"/>
              </a:rPr>
              <a:t>Đối tượng làm việc với nhau qua thông báo</a:t>
            </a:r>
          </a:p>
          <a:p>
            <a:pPr marL="723900" lvl="1" indent="-379413" defTabSz="746125">
              <a:spcAft>
                <a:spcPts val="600"/>
              </a:spcAft>
            </a:pPr>
            <a:r>
              <a:rPr lang="en-US" sz="2400" smtClean="0">
                <a:solidFill>
                  <a:schemeClr val="tx1"/>
                </a:solidFill>
                <a:latin typeface="Times New Roman" pitchFamily="18" charset="0"/>
                <a:cs typeface="Times New Roman" pitchFamily="18" charset="0"/>
              </a:rPr>
              <a:t>Chương trình được thiết kết theo cách từ dưới lên (bottom-up)</a:t>
            </a:r>
            <a:endParaRPr lang="en-US" sz="2400">
              <a:solidFill>
                <a:schemeClr val="tx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792162"/>
          </a:xfrm>
        </p:spPr>
        <p:txBody>
          <a:bodyPr>
            <a:normAutofit/>
          </a:bodyPr>
          <a:lstStyle/>
          <a:p>
            <a:pPr algn="ctr"/>
            <a:r>
              <a:rPr lang="en-US" sz="3400" b="1" smtClean="0">
                <a:solidFill>
                  <a:srgbClr val="0070C0"/>
                </a:solidFill>
                <a:latin typeface="Times New Roman" pitchFamily="18" charset="0"/>
                <a:cs typeface="Times New Roman" pitchFamily="18" charset="0"/>
              </a:rPr>
              <a:t>Mô hình hướng đối tượng</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381000" y="1295400"/>
            <a:ext cx="8763000" cy="4800600"/>
          </a:xfrm>
        </p:spPr>
        <p:txBody>
          <a:bodyPr>
            <a:noAutofit/>
          </a:bodyPr>
          <a:lstStyle/>
          <a:p>
            <a:pPr marL="609600" indent="-609600" defTabSz="746125">
              <a:spcAft>
                <a:spcPts val="600"/>
              </a:spcAft>
            </a:pPr>
            <a:endParaRPr lang="en-US" sz="240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a:srcRect/>
          <a:stretch>
            <a:fillRect/>
          </a:stretch>
        </p:blipFill>
        <p:spPr bwMode="auto">
          <a:xfrm>
            <a:off x="914400" y="1295400"/>
            <a:ext cx="7162800" cy="5337891"/>
          </a:xfrm>
          <a:prstGeom prst="rect">
            <a:avLst/>
          </a:prstGeom>
          <a:noFill/>
          <a:ln w="9525">
            <a:noFill/>
            <a:miter lim="800000"/>
            <a:headEnd/>
            <a:tailEnd/>
          </a:ln>
          <a:effectLst/>
        </p:spPr>
      </p:pic>
      <p:sp>
        <p:nvSpPr>
          <p:cNvPr id="7" name="Slide Number Placeholder 6"/>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9438"/>
            <a:ext cx="8229600" cy="792162"/>
          </a:xfrm>
        </p:spPr>
        <p:txBody>
          <a:bodyPr>
            <a:normAutofit/>
          </a:bodyPr>
          <a:lstStyle/>
          <a:p>
            <a:pPr algn="ctr"/>
            <a:r>
              <a:rPr lang="en-US" sz="3400" b="1" smtClean="0">
                <a:solidFill>
                  <a:srgbClr val="0070C0"/>
                </a:solidFill>
                <a:latin typeface="Times New Roman" pitchFamily="18" charset="0"/>
                <a:cs typeface="Times New Roman" pitchFamily="18" charset="0"/>
              </a:rPr>
              <a:t>Lập trình hướng đối tượng.</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0" y="1524000"/>
            <a:ext cx="3886200" cy="4876800"/>
          </a:xfrm>
        </p:spPr>
        <p:txBody>
          <a:bodyPr>
            <a:noAutofit/>
          </a:bodyPr>
          <a:lstStyle/>
          <a:p>
            <a:pPr marL="609600" indent="-609600" defTabSz="746125">
              <a:spcAft>
                <a:spcPts val="600"/>
              </a:spcAft>
            </a:pPr>
            <a:r>
              <a:rPr lang="en-US" sz="2000" smtClean="0">
                <a:latin typeface="Times New Roman" pitchFamily="18" charset="0"/>
                <a:cs typeface="Times New Roman" pitchFamily="18" charset="0"/>
              </a:rPr>
              <a:t>Các bộ phận: Bán hàng, nhân sự, kế toán trong một công ty.</a:t>
            </a:r>
          </a:p>
          <a:p>
            <a:pPr marL="609600" indent="-609600" defTabSz="746125">
              <a:spcAft>
                <a:spcPts val="600"/>
              </a:spcAft>
            </a:pPr>
            <a:r>
              <a:rPr lang="en-US" sz="2000" smtClean="0">
                <a:latin typeface="Times New Roman" pitchFamily="18" charset="0"/>
                <a:cs typeface="Times New Roman" pitchFamily="18" charset="0"/>
              </a:rPr>
              <a:t>Các nhân viên trong các bộ phận thực hiện điều khiển, thao tác trên dữ liệu của bộ phận.</a:t>
            </a:r>
          </a:p>
          <a:p>
            <a:pPr marL="609600" indent="-609600" defTabSz="746125">
              <a:spcAft>
                <a:spcPts val="600"/>
              </a:spcAft>
            </a:pPr>
            <a:r>
              <a:rPr lang="en-US" sz="2000" smtClean="0">
                <a:latin typeface="Times New Roman" pitchFamily="18" charset="0"/>
                <a:cs typeface="Times New Roman" pitchFamily="18" charset="0"/>
              </a:rPr>
              <a:t>Việc chia công ty thành các bộ phận giúp cho việc hiểu và điều khiển hoạt động của công ty một cách dễ dàng hơn</a:t>
            </a:r>
            <a:endParaRPr lang="en-US" sz="2000">
              <a:latin typeface="Times New Roman" pitchFamily="18" charset="0"/>
              <a:cs typeface="Times New Roman" pitchFamily="18" charset="0"/>
            </a:endParaRPr>
          </a:p>
        </p:txBody>
      </p:sp>
      <p:pic>
        <p:nvPicPr>
          <p:cNvPr id="5" name="Picture 2"/>
          <p:cNvPicPr>
            <a:picLocks noChangeAspect="1" noChangeArrowheads="1"/>
          </p:cNvPicPr>
          <p:nvPr/>
        </p:nvPicPr>
        <p:blipFill>
          <a:blip r:embed="rId2"/>
          <a:srcRect/>
          <a:stretch>
            <a:fillRect/>
          </a:stretch>
        </p:blipFill>
        <p:spPr bwMode="auto">
          <a:xfrm>
            <a:off x="3886200" y="1371600"/>
            <a:ext cx="5334000" cy="5257800"/>
          </a:xfrm>
          <a:prstGeom prst="rect">
            <a:avLst/>
          </a:prstGeom>
          <a:noFill/>
          <a:ln w="9525">
            <a:noFill/>
            <a:miter lim="800000"/>
            <a:headEnd/>
            <a:tailEnd/>
          </a:ln>
          <a:effectLst/>
        </p:spPr>
      </p:pic>
      <p:sp>
        <p:nvSpPr>
          <p:cNvPr id="8" name="Slide Number Placeholder 7"/>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27038"/>
            <a:ext cx="8229600" cy="792162"/>
          </a:xfrm>
        </p:spPr>
        <p:txBody>
          <a:bodyPr>
            <a:normAutofit/>
          </a:bodyPr>
          <a:lstStyle/>
          <a:p>
            <a:pPr algn="ctr"/>
            <a:r>
              <a:rPr lang="en-US" sz="3400" b="1" smtClean="0">
                <a:solidFill>
                  <a:srgbClr val="0070C0"/>
                </a:solidFill>
                <a:latin typeface="Times New Roman" pitchFamily="18" charset="0"/>
                <a:cs typeface="Times New Roman" pitchFamily="18" charset="0"/>
              </a:rPr>
              <a:t>Hệ thống hướng đối tượng</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295400"/>
            <a:ext cx="8686800" cy="5105400"/>
          </a:xfrm>
        </p:spPr>
        <p:txBody>
          <a:bodyPr>
            <a:noAutofit/>
          </a:bodyPr>
          <a:lstStyle/>
          <a:p>
            <a:pPr marL="609600" indent="-609600" defTabSz="746125"/>
            <a:r>
              <a:rPr lang="en-US" b="1" smtClean="0">
                <a:latin typeface="Times New Roman" pitchFamily="18" charset="0"/>
                <a:cs typeface="Times New Roman" pitchFamily="18" charset="0"/>
              </a:rPr>
              <a:t>Là hệ thống có đặc điểm sau:</a:t>
            </a:r>
          </a:p>
          <a:p>
            <a:pPr marL="723900" lvl="1" indent="-379413" defTabSz="746125"/>
            <a:r>
              <a:rPr lang="en-US" smtClean="0">
                <a:solidFill>
                  <a:schemeClr val="tx1"/>
                </a:solidFill>
                <a:latin typeface="Times New Roman" pitchFamily="18" charset="0"/>
                <a:cs typeface="Times New Roman" pitchFamily="18" charset="0"/>
              </a:rPr>
              <a:t>Gồm tập hợp các đối tượng</a:t>
            </a:r>
          </a:p>
          <a:p>
            <a:pPr marL="1784350" lvl="2" indent="-700088" defTabSz="746125"/>
            <a:r>
              <a:rPr lang="en-US" smtClean="0">
                <a:solidFill>
                  <a:schemeClr val="tx1"/>
                </a:solidFill>
                <a:latin typeface="Times New Roman" pitchFamily="18" charset="0"/>
                <a:cs typeface="Times New Roman" pitchFamily="18" charset="0"/>
              </a:rPr>
              <a:t>Sự đóng gói của 2 thành phần:</a:t>
            </a:r>
          </a:p>
          <a:p>
            <a:pPr marL="2627313" lvl="3" indent="-728663" defTabSz="746125"/>
            <a:r>
              <a:rPr lang="en-US" smtClean="0">
                <a:solidFill>
                  <a:schemeClr val="tx1"/>
                </a:solidFill>
                <a:latin typeface="Times New Roman" pitchFamily="18" charset="0"/>
                <a:cs typeface="Times New Roman" pitchFamily="18" charset="0"/>
              </a:rPr>
              <a:t>Dữ liệu (thuộc tính của đối tượng)</a:t>
            </a:r>
          </a:p>
          <a:p>
            <a:pPr marL="2627313" lvl="3" indent="-728663" defTabSz="746125"/>
            <a:r>
              <a:rPr lang="en-US" smtClean="0">
                <a:solidFill>
                  <a:schemeClr val="tx1"/>
                </a:solidFill>
                <a:latin typeface="Times New Roman" pitchFamily="18" charset="0"/>
                <a:cs typeface="Times New Roman" pitchFamily="18" charset="0"/>
              </a:rPr>
              <a:t>Các thao tác trên dữ liệu</a:t>
            </a:r>
          </a:p>
          <a:p>
            <a:pPr marL="723900" lvl="1" indent="-379413" defTabSz="746125"/>
            <a:r>
              <a:rPr lang="en-US" smtClean="0">
                <a:solidFill>
                  <a:schemeClr val="tx1"/>
                </a:solidFill>
                <a:latin typeface="Times New Roman" pitchFamily="18" charset="0"/>
                <a:cs typeface="Times New Roman" pitchFamily="18" charset="0"/>
              </a:rPr>
              <a:t>Các đối tượng có thể kế thừa các đặc tính của đối tượng khác</a:t>
            </a:r>
          </a:p>
          <a:p>
            <a:pPr marL="723900" lvl="1" indent="-379413" defTabSz="746125"/>
            <a:r>
              <a:rPr lang="en-US" smtClean="0">
                <a:solidFill>
                  <a:schemeClr val="tx1"/>
                </a:solidFill>
                <a:latin typeface="Times New Roman" pitchFamily="18" charset="0"/>
                <a:cs typeface="Times New Roman" pitchFamily="18" charset="0"/>
              </a:rPr>
              <a:t>Hoạt động thông qua sự tương tác giữa các đối tượng nhờ cơ chế truyền thông điệp</a:t>
            </a:r>
          </a:p>
          <a:p>
            <a:pPr marL="1784350" lvl="2" indent="-700088" defTabSz="746125"/>
            <a:r>
              <a:rPr lang="en-US" smtClean="0">
                <a:solidFill>
                  <a:schemeClr val="tx1"/>
                </a:solidFill>
                <a:latin typeface="Times New Roman" pitchFamily="18" charset="0"/>
                <a:cs typeface="Times New Roman" pitchFamily="18" charset="0"/>
              </a:rPr>
              <a:t>Thông báo</a:t>
            </a:r>
          </a:p>
          <a:p>
            <a:pPr marL="1784350" lvl="2" indent="-700088" defTabSz="746125"/>
            <a:r>
              <a:rPr lang="en-US" smtClean="0">
                <a:solidFill>
                  <a:schemeClr val="tx1"/>
                </a:solidFill>
                <a:latin typeface="Times New Roman" pitchFamily="18" charset="0"/>
                <a:cs typeface="Times New Roman" pitchFamily="18" charset="0"/>
              </a:rPr>
              <a:t>Gửi &amp; nhận thông báo</a:t>
            </a:r>
            <a:endParaRPr lang="en-US" sz="2000">
              <a:solidFill>
                <a:schemeClr val="tx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03238"/>
            <a:ext cx="8229600" cy="792162"/>
          </a:xfrm>
        </p:spPr>
        <p:txBody>
          <a:bodyPr>
            <a:normAutofit/>
          </a:bodyPr>
          <a:lstStyle/>
          <a:p>
            <a:pPr algn="ctr"/>
            <a:r>
              <a:rPr lang="en-US" sz="3400" b="1" smtClean="0">
                <a:solidFill>
                  <a:srgbClr val="0070C0"/>
                </a:solidFill>
                <a:latin typeface="Times New Roman" pitchFamily="18" charset="0"/>
                <a:cs typeface="Times New Roman" pitchFamily="18" charset="0"/>
              </a:rPr>
              <a:t>Đối tượng (Object)</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219200"/>
            <a:ext cx="8915400" cy="5410200"/>
          </a:xfrm>
        </p:spPr>
        <p:txBody>
          <a:bodyPr>
            <a:noAutofit/>
          </a:bodyPr>
          <a:lstStyle/>
          <a:p>
            <a:pPr marL="609600" indent="-609600" defTabSz="746125">
              <a:lnSpc>
                <a:spcPct val="150000"/>
              </a:lnSpc>
            </a:pPr>
            <a:r>
              <a:rPr lang="en-US" sz="2400" smtClean="0">
                <a:latin typeface="Times New Roman" pitchFamily="18" charset="0"/>
                <a:cs typeface="Times New Roman" pitchFamily="18" charset="0"/>
              </a:rPr>
              <a:t>Là khái niệm trừu tượng phản ánh các thực thể trong thế giới thực</a:t>
            </a:r>
          </a:p>
          <a:p>
            <a:pPr marL="723900" lvl="1" indent="-379413" defTabSz="746125"/>
            <a:r>
              <a:rPr lang="en-US" sz="2000" smtClean="0">
                <a:solidFill>
                  <a:schemeClr val="tx1"/>
                </a:solidFill>
                <a:latin typeface="Times New Roman" pitchFamily="18" charset="0"/>
                <a:cs typeface="Times New Roman" pitchFamily="18" charset="0"/>
              </a:rPr>
              <a:t>Có thể là một thực thể vật lý.</a:t>
            </a:r>
            <a:endParaRPr lang="en-US" sz="1800" smtClean="0">
              <a:solidFill>
                <a:schemeClr val="tx1"/>
              </a:solidFill>
              <a:latin typeface="Times New Roman" pitchFamily="18" charset="0"/>
              <a:cs typeface="Times New Roman" pitchFamily="18" charset="0"/>
            </a:endParaRPr>
          </a:p>
          <a:p>
            <a:pPr marL="723900" lvl="1" indent="-379413" defTabSz="746125"/>
            <a:r>
              <a:rPr lang="en-US" sz="2000" smtClean="0">
                <a:solidFill>
                  <a:schemeClr val="tx1"/>
                </a:solidFill>
                <a:latin typeface="Times New Roman" pitchFamily="18" charset="0"/>
                <a:cs typeface="Times New Roman" pitchFamily="18" charset="0"/>
              </a:rPr>
              <a:t>Có thể là một khái niệm trừu tượng.</a:t>
            </a:r>
          </a:p>
          <a:p>
            <a:pPr lvl="2"/>
            <a:r>
              <a:rPr lang="en-US" sz="2000" smtClean="0">
                <a:solidFill>
                  <a:schemeClr val="tx1"/>
                </a:solidFill>
                <a:latin typeface="Times New Roman" pitchFamily="18" charset="0"/>
                <a:cs typeface="Times New Roman" pitchFamily="18" charset="0"/>
              </a:rPr>
              <a:t>Human entities:Employees, Students, Customers, Salespeople.</a:t>
            </a:r>
          </a:p>
          <a:p>
            <a:pPr lvl="2"/>
            <a:r>
              <a:rPr lang="en-US" sz="2000" smtClean="0">
                <a:solidFill>
                  <a:schemeClr val="tx1"/>
                </a:solidFill>
                <a:latin typeface="Times New Roman" pitchFamily="18" charset="0"/>
                <a:cs typeface="Times New Roman" pitchFamily="18" charset="0"/>
              </a:rPr>
              <a:t>User-defined data types:Time,Angles,Complex numbers,Points on the plane</a:t>
            </a:r>
          </a:p>
          <a:p>
            <a:pPr marL="609600" indent="-609600" defTabSz="746125">
              <a:lnSpc>
                <a:spcPct val="150000"/>
              </a:lnSpc>
            </a:pPr>
            <a:r>
              <a:rPr lang="en-US" sz="2400" smtClean="0">
                <a:latin typeface="Times New Roman" pitchFamily="18" charset="0"/>
                <a:cs typeface="Times New Roman" pitchFamily="18" charset="0"/>
              </a:rPr>
              <a:t>Được định nghĩa là sự thể hiện của một lớp</a:t>
            </a:r>
          </a:p>
          <a:p>
            <a:pPr marL="609600" indent="-609600" defTabSz="746125"/>
            <a:r>
              <a:rPr lang="en-US" sz="2400" smtClean="0">
                <a:latin typeface="Times New Roman" pitchFamily="18" charset="0"/>
                <a:cs typeface="Times New Roman" pitchFamily="18" charset="0"/>
              </a:rPr>
              <a:t>Chính là các thực thể trong hệ thống được xác định bởi ba yếu tố:</a:t>
            </a:r>
          </a:p>
          <a:p>
            <a:pPr marL="1009650" lvl="1" indent="-609600" defTabSz="746125"/>
            <a:r>
              <a:rPr lang="en-US" sz="2000" smtClean="0">
                <a:solidFill>
                  <a:schemeClr val="tx1"/>
                </a:solidFill>
                <a:latin typeface="Times New Roman" pitchFamily="18" charset="0"/>
                <a:cs typeface="Times New Roman" pitchFamily="18" charset="0"/>
              </a:rPr>
              <a:t>Định danh đối tượng: Xác định duy nhất đối tượng trong hệ thống.</a:t>
            </a:r>
          </a:p>
          <a:p>
            <a:pPr marL="1009650" lvl="1" indent="-609600" defTabSz="746125"/>
            <a:r>
              <a:rPr lang="en-US" sz="2000" smtClean="0">
                <a:solidFill>
                  <a:schemeClr val="tx1"/>
                </a:solidFill>
                <a:latin typeface="Times New Roman" pitchFamily="18" charset="0"/>
                <a:cs typeface="Times New Roman" pitchFamily="18" charset="0"/>
              </a:rPr>
              <a:t>Trạng thái của đối tượng:</a:t>
            </a:r>
          </a:p>
          <a:p>
            <a:pPr marL="1009650" lvl="1" indent="-609600" defTabSz="746125"/>
            <a:r>
              <a:rPr lang="en-US" sz="2000" smtClean="0">
                <a:solidFill>
                  <a:schemeClr val="tx1"/>
                </a:solidFill>
                <a:latin typeface="Times New Roman" pitchFamily="18" charset="0"/>
                <a:cs typeface="Times New Roman" pitchFamily="18" charset="0"/>
              </a:rPr>
              <a:t>Hoạt động của đối tượng:</a:t>
            </a:r>
          </a:p>
          <a:p>
            <a:pPr marL="609600" indent="-609600" defTabSz="746125">
              <a:lnSpc>
                <a:spcPct val="150000"/>
              </a:lnSpc>
            </a:pPr>
            <a:r>
              <a:rPr lang="en-US" sz="2400" smtClean="0">
                <a:latin typeface="Times New Roman" pitchFamily="18" charset="0"/>
                <a:cs typeface="Times New Roman" pitchFamily="18" charset="0"/>
              </a:rPr>
              <a:t>Một đối tượng là sự đóng gói 2 thành phần:</a:t>
            </a:r>
          </a:p>
          <a:p>
            <a:pPr marL="723900" lvl="1" indent="-379413" defTabSz="746125"/>
            <a:r>
              <a:rPr lang="en-US" sz="2000" smtClean="0">
                <a:solidFill>
                  <a:schemeClr val="tx1"/>
                </a:solidFill>
                <a:latin typeface="Times New Roman" pitchFamily="18" charset="0"/>
                <a:cs typeface="Times New Roman" pitchFamily="18" charset="0"/>
              </a:rPr>
              <a:t>Trạng thái (state) hay dữ liệu </a:t>
            </a:r>
          </a:p>
          <a:p>
            <a:pPr marL="723900" lvl="1" indent="-379413" defTabSz="746125"/>
            <a:r>
              <a:rPr lang="en-US" sz="2000" smtClean="0">
                <a:solidFill>
                  <a:schemeClr val="tx1"/>
                </a:solidFill>
                <a:latin typeface="Times New Roman" pitchFamily="18" charset="0"/>
                <a:cs typeface="Times New Roman" pitchFamily="18" charset="0"/>
              </a:rPr>
              <a:t>Các ứng xử (behavior) hay hành vi, thao tác</a:t>
            </a:r>
            <a:endParaRPr lang="en-US" sz="2400" smtClean="0">
              <a:solidFill>
                <a:schemeClr val="tx1"/>
              </a:solidFill>
              <a:latin typeface="Times New Roman" pitchFamily="18" charset="0"/>
              <a:cs typeface="Times New Roman" pitchFamily="18" charset="0"/>
            </a:endParaRPr>
          </a:p>
          <a:p>
            <a:pPr marL="1784350" lvl="2" indent="-700088" defTabSz="746125"/>
            <a:endParaRPr lang="en-US" sz="200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79438"/>
            <a:ext cx="8229600" cy="792162"/>
          </a:xfrm>
        </p:spPr>
        <p:txBody>
          <a:bodyPr>
            <a:normAutofit/>
          </a:bodyPr>
          <a:lstStyle/>
          <a:p>
            <a:pPr algn="ctr"/>
            <a:r>
              <a:rPr lang="en-US" sz="3600" b="1" smtClean="0">
                <a:solidFill>
                  <a:srgbClr val="0070C0"/>
                </a:solidFill>
                <a:latin typeface="Times New Roman" pitchFamily="18" charset="0"/>
                <a:cs typeface="Times New Roman" pitchFamily="18" charset="0"/>
              </a:rPr>
              <a:t>Thuộc tính &amp; phương thức</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295400"/>
            <a:ext cx="8686800" cy="5105400"/>
          </a:xfrm>
        </p:spPr>
        <p:txBody>
          <a:bodyPr>
            <a:noAutofit/>
          </a:bodyPr>
          <a:lstStyle/>
          <a:p>
            <a:pPr marL="609600" indent="-609600" defTabSz="746125"/>
            <a:r>
              <a:rPr lang="en-US" sz="2800" b="1" smtClean="0">
                <a:latin typeface="Times New Roman" pitchFamily="18" charset="0"/>
                <a:cs typeface="Times New Roman" pitchFamily="18" charset="0"/>
              </a:rPr>
              <a:t>Thuộc tính bao gồm:</a:t>
            </a:r>
          </a:p>
          <a:p>
            <a:pPr marL="723900" lvl="1" indent="-379413" defTabSz="746125"/>
            <a:r>
              <a:rPr lang="en-US" sz="2400" smtClean="0">
                <a:solidFill>
                  <a:schemeClr val="tx1"/>
                </a:solidFill>
                <a:latin typeface="Times New Roman" pitchFamily="18" charset="0"/>
                <a:cs typeface="Times New Roman" pitchFamily="18" charset="0"/>
              </a:rPr>
              <a:t>Hằng, biến</a:t>
            </a:r>
          </a:p>
          <a:p>
            <a:pPr marL="723900" lvl="1" indent="-379413" defTabSz="746125"/>
            <a:r>
              <a:rPr lang="en-US" sz="2400" smtClean="0">
                <a:solidFill>
                  <a:schemeClr val="tx1"/>
                </a:solidFill>
                <a:latin typeface="Times New Roman" pitchFamily="18" charset="0"/>
                <a:cs typeface="Times New Roman" pitchFamily="18" charset="0"/>
              </a:rPr>
              <a:t>Tham số nội tại</a:t>
            </a:r>
          </a:p>
          <a:p>
            <a:pPr marL="609600" indent="-609600" defTabSz="746125"/>
            <a:r>
              <a:rPr lang="en-US" sz="2800" b="1" smtClean="0">
                <a:latin typeface="Times New Roman" pitchFamily="18" charset="0"/>
                <a:cs typeface="Times New Roman" pitchFamily="18" charset="0"/>
              </a:rPr>
              <a:t>Thuộc tính được xác định kiểu, gồm:</a:t>
            </a:r>
          </a:p>
          <a:p>
            <a:pPr marL="723900" lvl="1" indent="-379413" defTabSz="746125"/>
            <a:r>
              <a:rPr lang="en-US" sz="2400" smtClean="0">
                <a:solidFill>
                  <a:schemeClr val="tx1"/>
                </a:solidFill>
                <a:latin typeface="Times New Roman" pitchFamily="18" charset="0"/>
                <a:cs typeface="Times New Roman" pitchFamily="18" charset="0"/>
              </a:rPr>
              <a:t>Kiểu cổ điển</a:t>
            </a:r>
          </a:p>
          <a:p>
            <a:pPr marL="723900" lvl="1" indent="-379413" defTabSz="746125"/>
            <a:r>
              <a:rPr lang="en-US" sz="2400" smtClean="0">
                <a:solidFill>
                  <a:schemeClr val="tx1"/>
                </a:solidFill>
                <a:latin typeface="Times New Roman" pitchFamily="18" charset="0"/>
                <a:cs typeface="Times New Roman" pitchFamily="18" charset="0"/>
              </a:rPr>
              <a:t>Kiểu do người dùng định nghĩa</a:t>
            </a:r>
          </a:p>
          <a:p>
            <a:pPr marL="609600" indent="-609600" defTabSz="746125"/>
            <a:r>
              <a:rPr lang="en-US" sz="2800" b="1" smtClean="0">
                <a:latin typeface="Times New Roman" pitchFamily="18" charset="0"/>
                <a:cs typeface="Times New Roman" pitchFamily="18" charset="0"/>
              </a:rPr>
              <a:t>Phương thức là:</a:t>
            </a:r>
          </a:p>
          <a:p>
            <a:pPr marL="723900" lvl="1" indent="-379413" defTabSz="746125"/>
            <a:r>
              <a:rPr lang="en-US" sz="2400" smtClean="0">
                <a:solidFill>
                  <a:schemeClr val="tx1"/>
                </a:solidFill>
                <a:latin typeface="Times New Roman" pitchFamily="18" charset="0"/>
                <a:cs typeface="Times New Roman" pitchFamily="18" charset="0"/>
              </a:rPr>
              <a:t>Các hàm nội tại của đối tượng</a:t>
            </a:r>
          </a:p>
          <a:p>
            <a:pPr marL="723900" lvl="1" indent="-379413" defTabSz="746125"/>
            <a:r>
              <a:rPr lang="en-US" sz="2400" smtClean="0">
                <a:solidFill>
                  <a:schemeClr val="tx1"/>
                </a:solidFill>
                <a:latin typeface="Times New Roman" pitchFamily="18" charset="0"/>
                <a:cs typeface="Times New Roman" pitchFamily="18" charset="0"/>
              </a:rPr>
              <a:t>Có kiểu trả về</a:t>
            </a:r>
          </a:p>
          <a:p>
            <a:pPr marL="723900" lvl="1" indent="-379413" defTabSz="746125"/>
            <a:r>
              <a:rPr lang="en-US" sz="2400" smtClean="0">
                <a:solidFill>
                  <a:schemeClr val="tx1"/>
                </a:solidFill>
                <a:latin typeface="Times New Roman" pitchFamily="18" charset="0"/>
                <a:cs typeface="Times New Roman" pitchFamily="18" charset="0"/>
              </a:rPr>
              <a:t>Tên gọi khác: hàm thành viên</a:t>
            </a:r>
            <a:endParaRPr lang="en-US" sz="1800">
              <a:solidFill>
                <a:schemeClr val="tx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792162"/>
          </a:xfrm>
        </p:spPr>
        <p:txBody>
          <a:bodyPr>
            <a:normAutofit/>
          </a:bodyPr>
          <a:lstStyle/>
          <a:p>
            <a:pPr algn="ctr"/>
            <a:r>
              <a:rPr lang="en-US" sz="3600" b="1" smtClean="0">
                <a:solidFill>
                  <a:srgbClr val="0070C0"/>
                </a:solidFill>
                <a:latin typeface="Times New Roman" pitchFamily="18" charset="0"/>
                <a:cs typeface="Times New Roman" pitchFamily="18" charset="0"/>
              </a:rPr>
              <a:t>Lớp (Class)</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219200"/>
            <a:ext cx="8686800" cy="5410200"/>
          </a:xfrm>
        </p:spPr>
        <p:txBody>
          <a:bodyPr>
            <a:noAutofit/>
          </a:bodyPr>
          <a:lstStyle/>
          <a:p>
            <a:pPr>
              <a:buFont typeface="Arial" pitchFamily="34" charset="0"/>
              <a:buChar char="•"/>
            </a:pPr>
            <a:r>
              <a:rPr lang="vi-VN" sz="2200" smtClean="0"/>
              <a:t>Lớp là một khái niệm, mang tính trừu tượng, dùng để biểu diễn một tập các đối tượng</a:t>
            </a:r>
          </a:p>
          <a:p>
            <a:pPr lvl="1"/>
            <a:r>
              <a:rPr lang="en-US" sz="1800" smtClean="0">
                <a:solidFill>
                  <a:schemeClr val="tx1"/>
                </a:solidFill>
                <a:cs typeface="Times New Roman" pitchFamily="18" charset="0"/>
              </a:rPr>
              <a:t>VD: Trong bài toán quản lý buôn bán xe hơi, mỗi chiếc xe là một đối tượng, khái niệm “Xe hơi” là lớp đối tượng chỉ tất cả đối tượng xe hơi.</a:t>
            </a:r>
            <a:endParaRPr lang="vi-VN" sz="1800" smtClean="0"/>
          </a:p>
          <a:p>
            <a:r>
              <a:rPr lang="vi-VN" sz="2200" smtClean="0"/>
              <a:t>Đối tượng là một thể hiện cụ thể của lớp, là một thực thể tồn tại trong hệ thống.</a:t>
            </a:r>
          </a:p>
          <a:p>
            <a:r>
              <a:rPr lang="vi-VN" sz="2200" smtClean="0"/>
              <a:t>Lớp được dùng để biểu diễn đối tượng, cho nên lớp cũng có thuộc tính và phương thức:</a:t>
            </a:r>
          </a:p>
          <a:p>
            <a:pPr lvl="1"/>
            <a:r>
              <a:rPr lang="vi-VN" sz="1800" smtClean="0">
                <a:solidFill>
                  <a:schemeClr val="tx1"/>
                </a:solidFill>
              </a:rPr>
              <a:t>Thuộc tính của lớp tương ứng với thuộc tính của các đối tượng.</a:t>
            </a:r>
          </a:p>
          <a:p>
            <a:pPr lvl="1"/>
            <a:r>
              <a:rPr lang="vi-VN" sz="1800" smtClean="0">
                <a:solidFill>
                  <a:schemeClr val="tx1"/>
                </a:solidFill>
              </a:rPr>
              <a:t>Phương thức của lớp tương ứng với các hành động của đối tượng</a:t>
            </a:r>
          </a:p>
          <a:p>
            <a:r>
              <a:rPr lang="vi-VN" sz="2000" b="1" smtClean="0">
                <a:cs typeface="Times New Roman" pitchFamily="18" charset="0"/>
              </a:rPr>
              <a:t>Chú ý:</a:t>
            </a:r>
          </a:p>
          <a:p>
            <a:pPr lvl="1"/>
            <a:r>
              <a:rPr lang="vi-VN" sz="1800" smtClean="0">
                <a:solidFill>
                  <a:schemeClr val="tx1"/>
                </a:solidFill>
              </a:rPr>
              <a:t>Hoặc chỉ có thuộc tính, không có phương thức.</a:t>
            </a:r>
          </a:p>
          <a:p>
            <a:pPr lvl="1"/>
            <a:r>
              <a:rPr lang="vi-VN" sz="1800" smtClean="0">
                <a:solidFill>
                  <a:schemeClr val="tx1"/>
                </a:solidFill>
              </a:rPr>
              <a:t>Hoặc chỉ có phương thức, không có thuộc tính.</a:t>
            </a:r>
          </a:p>
          <a:p>
            <a:pPr lvl="1"/>
            <a:r>
              <a:rPr lang="vi-VN" sz="1800" smtClean="0">
                <a:solidFill>
                  <a:schemeClr val="tx1"/>
                </a:solidFill>
              </a:rPr>
              <a:t>Hoặc có cả thuộc tính và phương thức, trường hợp này là phổ biến nhất.</a:t>
            </a:r>
          </a:p>
          <a:p>
            <a:pPr lvl="1"/>
            <a:r>
              <a:rPr lang="vi-VN" sz="1800" smtClean="0">
                <a:solidFill>
                  <a:schemeClr val="tx1"/>
                </a:solidFill>
              </a:rPr>
              <a:t> Đặc biệt, lớp không có thuộc tính và phương thức nào là các lớp trừu tượng. Các lớp này không có đối tượng tương ứng</a:t>
            </a:r>
            <a:endParaRPr lang="vi-VN" sz="1800" smtClean="0">
              <a:solidFill>
                <a:schemeClr val="tx1"/>
              </a:solidFill>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579438"/>
            <a:ext cx="8229600" cy="792162"/>
          </a:xfrm>
        </p:spPr>
        <p:txBody>
          <a:bodyPr>
            <a:normAutofit/>
          </a:bodyPr>
          <a:lstStyle/>
          <a:p>
            <a:pPr algn="ctr"/>
            <a:r>
              <a:rPr lang="en-US" sz="3600" b="1" smtClean="0">
                <a:solidFill>
                  <a:srgbClr val="0070C0"/>
                </a:solidFill>
                <a:latin typeface="Times New Roman" pitchFamily="18" charset="0"/>
                <a:cs typeface="Times New Roman" pitchFamily="18" charset="0"/>
              </a:rPr>
              <a:t>Lớp và đối tượng</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524000"/>
            <a:ext cx="8458200" cy="4876800"/>
          </a:xfrm>
        </p:spPr>
        <p:txBody>
          <a:bodyPr>
            <a:noAutofit/>
          </a:bodyPr>
          <a:lstStyle/>
          <a:p>
            <a:pPr>
              <a:spcBef>
                <a:spcPts val="1200"/>
              </a:spcBef>
              <a:buFont typeface="Wingdings" pitchFamily="2" charset="2"/>
              <a:buChar char="§"/>
            </a:pPr>
            <a:r>
              <a:rPr lang="vi-VN" sz="2200" smtClean="0"/>
              <a:t>Lớp và đối tượng, mặc dù có mối liên hệ tương ứng lẫn nhau, nhưng bản chất lại khác nhau:</a:t>
            </a:r>
          </a:p>
          <a:p>
            <a:pPr>
              <a:spcBef>
                <a:spcPts val="1200"/>
              </a:spcBef>
              <a:buFont typeface="Wingdings" pitchFamily="2" charset="2"/>
              <a:buChar char="§"/>
            </a:pPr>
            <a:r>
              <a:rPr lang="vi-VN" sz="2200" smtClean="0"/>
              <a:t> Lớp là sự trừu tượng hoá của các đối tượng. Trong khi đó, đối tượng là một thể hiện củalớp.</a:t>
            </a:r>
          </a:p>
          <a:p>
            <a:pPr>
              <a:spcBef>
                <a:spcPts val="1200"/>
              </a:spcBef>
              <a:buFont typeface="Wingdings" pitchFamily="2" charset="2"/>
              <a:buChar char="§"/>
            </a:pPr>
            <a:r>
              <a:rPr lang="vi-VN" sz="2200" smtClean="0"/>
              <a:t>Đối tượng là một thực thể cụ thể, có thực, tồn tại trong hệ thống. Trong khi đó, lớp là mộtkhái niệm trừu tượng, chỉ tồn tại ở dạng khái niệm để mô tả các đặc tính chung của một sốđối tượng.</a:t>
            </a:r>
          </a:p>
          <a:p>
            <a:pPr>
              <a:spcBef>
                <a:spcPts val="1200"/>
              </a:spcBef>
              <a:buFont typeface="Wingdings" pitchFamily="2" charset="2"/>
              <a:buChar char="§"/>
            </a:pPr>
            <a:r>
              <a:rPr lang="vi-VN" sz="2200" smtClean="0"/>
              <a:t>Tất cả các đối tượng thuộc về cùng một lớp có cùng các thuộc tính và các phương thức.</a:t>
            </a:r>
          </a:p>
          <a:p>
            <a:pPr>
              <a:spcBef>
                <a:spcPts val="1200"/>
              </a:spcBef>
              <a:buFont typeface="Wingdings" pitchFamily="2" charset="2"/>
              <a:buChar char="§"/>
            </a:pPr>
            <a:r>
              <a:rPr lang="vi-VN" sz="2200" smtClean="0"/>
              <a:t>Một lớp là một nguyên mẫu của một đối tượng. Nó xác định các hành động khả thi và cácthuộc tính cần thiết cho một nhóm các đối tượng cụ thể</a:t>
            </a:r>
            <a:endParaRPr lang="en-US" sz="220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27038"/>
            <a:ext cx="8229600" cy="792162"/>
          </a:xfrm>
        </p:spPr>
        <p:txBody>
          <a:bodyPr>
            <a:normAutofit/>
          </a:bodyPr>
          <a:lstStyle/>
          <a:p>
            <a:pPr algn="ctr"/>
            <a:r>
              <a:rPr lang="en-US" sz="3600" b="1" smtClean="0">
                <a:solidFill>
                  <a:srgbClr val="0070C0"/>
                </a:solidFill>
                <a:latin typeface="Times New Roman" pitchFamily="18" charset="0"/>
                <a:cs typeface="Times New Roman" pitchFamily="18" charset="0"/>
              </a:rPr>
              <a:t>Trừu tượng hóa</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295400"/>
            <a:ext cx="8686800" cy="5486400"/>
          </a:xfrm>
        </p:spPr>
        <p:txBody>
          <a:bodyPr>
            <a:noAutofit/>
          </a:bodyPr>
          <a:lstStyle/>
          <a:p>
            <a:pPr marL="609600" indent="-609600" defTabSz="746125">
              <a:lnSpc>
                <a:spcPct val="90000"/>
              </a:lnSpc>
            </a:pPr>
            <a:r>
              <a:rPr lang="en-US" sz="2400" b="1" smtClean="0">
                <a:latin typeface="Times New Roman" pitchFamily="18" charset="0"/>
                <a:cs typeface="Times New Roman" pitchFamily="18" charset="0"/>
              </a:rPr>
              <a:t>Các loại trừu tượng hoá:</a:t>
            </a:r>
          </a:p>
          <a:p>
            <a:pPr marL="723900" lvl="1" indent="-379413" defTabSz="746125">
              <a:lnSpc>
                <a:spcPct val="90000"/>
              </a:lnSpc>
            </a:pPr>
            <a:r>
              <a:rPr lang="en-US" sz="2200" b="1" smtClean="0">
                <a:solidFill>
                  <a:schemeClr val="tx1"/>
                </a:solidFill>
                <a:latin typeface="Times New Roman" pitchFamily="18" charset="0"/>
                <a:cs typeface="Times New Roman" pitchFamily="18" charset="0"/>
              </a:rPr>
              <a:t>Trừu tượng hoá dữ liệu:</a:t>
            </a:r>
          </a:p>
          <a:p>
            <a:pPr lvl="2"/>
            <a:r>
              <a:rPr lang="vi-VN" sz="2000" smtClean="0">
                <a:solidFill>
                  <a:schemeClr val="tx1"/>
                </a:solidFill>
                <a:latin typeface="Times New Roman" pitchFamily="18" charset="0"/>
                <a:cs typeface="Times New Roman" pitchFamily="18" charset="0"/>
              </a:rPr>
              <a:t>Trừu tượng hoá đối tượng theo dữ liệu chính là quá trình mô hình hoá các thuộc tính của lớp dựa trên các thuộc tính của các đối tượng tương ứng</a:t>
            </a:r>
          </a:p>
          <a:p>
            <a:pPr lvl="2"/>
            <a:r>
              <a:rPr lang="vi-VN" sz="2000" smtClean="0">
                <a:solidFill>
                  <a:schemeClr val="tx1"/>
                </a:solidFill>
                <a:latin typeface="Times New Roman" pitchFamily="18" charset="0"/>
                <a:cs typeface="Times New Roman" pitchFamily="18" charset="0"/>
              </a:rPr>
              <a:t>Loại bớt các thuộc tính cá biệt, chỉ giữ lại các thuộc tính chung nhất.</a:t>
            </a:r>
            <a:endParaRPr lang="en-US" sz="2000" smtClean="0">
              <a:solidFill>
                <a:schemeClr val="tx1"/>
              </a:solidFill>
              <a:latin typeface="Times New Roman" pitchFamily="18" charset="0"/>
              <a:cs typeface="Times New Roman" pitchFamily="18" charset="0"/>
            </a:endParaRPr>
          </a:p>
          <a:p>
            <a:pPr marL="723900" lvl="1" indent="-379413" defTabSz="746125">
              <a:lnSpc>
                <a:spcPct val="90000"/>
              </a:lnSpc>
            </a:pPr>
            <a:r>
              <a:rPr lang="en-US" sz="2200" b="1" smtClean="0">
                <a:solidFill>
                  <a:schemeClr val="tx1"/>
                </a:solidFill>
                <a:latin typeface="Times New Roman" pitchFamily="18" charset="0"/>
                <a:cs typeface="Times New Roman" pitchFamily="18" charset="0"/>
              </a:rPr>
              <a:t>Trừu tượng hoá chức năng:</a:t>
            </a:r>
          </a:p>
          <a:p>
            <a:pPr lvl="2"/>
            <a:r>
              <a:rPr lang="vi-VN" sz="2000" smtClean="0">
                <a:solidFill>
                  <a:schemeClr val="tx1"/>
                </a:solidFill>
                <a:latin typeface="Times New Roman" pitchFamily="18" charset="0"/>
                <a:cs typeface="Times New Roman" pitchFamily="18" charset="0"/>
              </a:rPr>
              <a:t>Trừu tượng hoá đối tượng theo chức năng chính là quá trình mô hình hoá phương thức của lớp dựa trên các hành động của các đối tượng.</a:t>
            </a:r>
          </a:p>
          <a:p>
            <a:pPr lvl="2"/>
            <a:r>
              <a:rPr lang="vi-VN" sz="2000" smtClean="0">
                <a:solidFill>
                  <a:schemeClr val="tx1"/>
                </a:solidFill>
                <a:latin typeface="Times New Roman" pitchFamily="18" charset="0"/>
                <a:cs typeface="Times New Roman" pitchFamily="18" charset="0"/>
              </a:rPr>
              <a:t>Loại bỏ các hành động cá biệt chỉ giữ lại các hành động chung nhất để hình thành các phương thức chung nhất của lớp biểu diễn cho các đối tượng.</a:t>
            </a:r>
          </a:p>
          <a:p>
            <a:r>
              <a:rPr lang="vi-VN" sz="2200" b="1" smtClean="0">
                <a:latin typeface="Times New Roman" pitchFamily="18" charset="0"/>
                <a:cs typeface="Times New Roman" pitchFamily="18" charset="0"/>
              </a:rPr>
              <a:t>Những ưu điểm của việc trừu tượng hóa là:</a:t>
            </a:r>
          </a:p>
          <a:p>
            <a:pPr lvl="1"/>
            <a:r>
              <a:rPr lang="vi-VN" sz="2000" smtClean="0">
                <a:solidFill>
                  <a:schemeClr val="tx1"/>
                </a:solidFill>
                <a:latin typeface="Times New Roman" pitchFamily="18" charset="0"/>
                <a:cs typeface="Times New Roman" pitchFamily="18" charset="0"/>
              </a:rPr>
              <a:t>Tập trung vào vấn đề cần quan tâm</a:t>
            </a:r>
          </a:p>
          <a:p>
            <a:pPr lvl="1"/>
            <a:r>
              <a:rPr lang="vi-VN" sz="2000" smtClean="0">
                <a:solidFill>
                  <a:schemeClr val="tx1"/>
                </a:solidFill>
                <a:latin typeface="Times New Roman" pitchFamily="18" charset="0"/>
                <a:cs typeface="Times New Roman" pitchFamily="18" charset="0"/>
              </a:rPr>
              <a:t>Xác định những đặc tính thiết yếu và những hành động cần thiết</a:t>
            </a:r>
          </a:p>
          <a:p>
            <a:pPr lvl="1"/>
            <a:r>
              <a:rPr lang="vi-VN" sz="2000" smtClean="0">
                <a:solidFill>
                  <a:schemeClr val="tx1"/>
                </a:solidFill>
                <a:latin typeface="Times New Roman" pitchFamily="18" charset="0"/>
                <a:cs typeface="Times New Roman" pitchFamily="18" charset="0"/>
              </a:rPr>
              <a:t>Giảm thiểu những chi tiết không cần thiết</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55638"/>
            <a:ext cx="8229600" cy="792162"/>
          </a:xfrm>
        </p:spPr>
        <p:txBody>
          <a:bodyPr>
            <a:normAutofit/>
          </a:bodyPr>
          <a:lstStyle/>
          <a:p>
            <a:pPr algn="ctr"/>
            <a:r>
              <a:rPr lang="en-US" sz="3600" b="1" smtClean="0">
                <a:solidFill>
                  <a:srgbClr val="0070C0"/>
                </a:solidFill>
                <a:latin typeface="Times New Roman" pitchFamily="18" charset="0"/>
                <a:cs typeface="Times New Roman" pitchFamily="18" charset="0"/>
              </a:rPr>
              <a:t>Truyền thông điệp</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686800" cy="4800600"/>
          </a:xfrm>
        </p:spPr>
        <p:txBody>
          <a:bodyPr>
            <a:noAutofit/>
          </a:bodyPr>
          <a:lstStyle/>
          <a:p>
            <a:pPr marL="609600" indent="-609600" defTabSz="746125">
              <a:spcAft>
                <a:spcPts val="600"/>
              </a:spcAft>
            </a:pPr>
            <a:r>
              <a:rPr lang="en-US" sz="2400" smtClean="0">
                <a:latin typeface="Times New Roman" pitchFamily="18" charset="0"/>
                <a:cs typeface="Times New Roman" pitchFamily="18" charset="0"/>
              </a:rPr>
              <a:t>Thông điệp:</a:t>
            </a:r>
          </a:p>
          <a:p>
            <a:pPr marL="723900" lvl="1" indent="-379413" defTabSz="746125">
              <a:spcAft>
                <a:spcPts val="600"/>
              </a:spcAft>
            </a:pPr>
            <a:r>
              <a:rPr lang="en-US" sz="2200" smtClean="0">
                <a:solidFill>
                  <a:schemeClr val="tx1"/>
                </a:solidFill>
                <a:latin typeface="Times New Roman" pitchFamily="18" charset="0"/>
                <a:cs typeface="Times New Roman" pitchFamily="18" charset="0"/>
              </a:rPr>
              <a:t>Là phương tiện để đối tượng này chuyển yêu cầu tới đối tượng khác.</a:t>
            </a:r>
          </a:p>
          <a:p>
            <a:pPr marL="609600" indent="-609600" defTabSz="746125">
              <a:spcAft>
                <a:spcPts val="600"/>
              </a:spcAft>
            </a:pPr>
            <a:r>
              <a:rPr lang="en-US" sz="2400" smtClean="0">
                <a:latin typeface="Times New Roman" pitchFamily="18" charset="0"/>
                <a:cs typeface="Times New Roman" pitchFamily="18" charset="0"/>
              </a:rPr>
              <a:t>Một thông điệp bao gồm:</a:t>
            </a:r>
          </a:p>
          <a:p>
            <a:pPr marL="723900" lvl="1" indent="-379413" defTabSz="746125">
              <a:spcAft>
                <a:spcPts val="600"/>
              </a:spcAft>
            </a:pPr>
            <a:r>
              <a:rPr lang="en-US" sz="2200" smtClean="0">
                <a:solidFill>
                  <a:schemeClr val="tx1"/>
                </a:solidFill>
                <a:latin typeface="Times New Roman" pitchFamily="18" charset="0"/>
                <a:cs typeface="Times New Roman" pitchFamily="18" charset="0"/>
              </a:rPr>
              <a:t>Handle của đối tượng đích (đối tượng chủ)</a:t>
            </a:r>
          </a:p>
          <a:p>
            <a:pPr marL="723900" lvl="1" indent="-379413" defTabSz="746125">
              <a:spcAft>
                <a:spcPts val="600"/>
              </a:spcAft>
            </a:pPr>
            <a:r>
              <a:rPr lang="en-US" sz="2200" smtClean="0">
                <a:solidFill>
                  <a:schemeClr val="tx1"/>
                </a:solidFill>
                <a:latin typeface="Times New Roman" pitchFamily="18" charset="0"/>
                <a:cs typeface="Times New Roman" pitchFamily="18" charset="0"/>
              </a:rPr>
              <a:t>Tên phương thức cần thực hiện</a:t>
            </a:r>
          </a:p>
          <a:p>
            <a:pPr marL="723900" lvl="1" indent="-379413" defTabSz="746125">
              <a:spcAft>
                <a:spcPts val="600"/>
              </a:spcAft>
            </a:pPr>
            <a:r>
              <a:rPr lang="en-US" sz="2200" smtClean="0">
                <a:solidFill>
                  <a:schemeClr val="tx1"/>
                </a:solidFill>
                <a:latin typeface="Times New Roman" pitchFamily="18" charset="0"/>
                <a:cs typeface="Times New Roman" pitchFamily="18" charset="0"/>
              </a:rPr>
              <a:t>Các thông tin cần thiết khác (tham số)</a:t>
            </a:r>
          </a:p>
          <a:p>
            <a:pPr marL="609600" indent="-609600" defTabSz="746125">
              <a:spcAft>
                <a:spcPts val="600"/>
              </a:spcAft>
            </a:pPr>
            <a:r>
              <a:rPr lang="en-US" sz="2400" smtClean="0">
                <a:latin typeface="Times New Roman" pitchFamily="18" charset="0"/>
                <a:cs typeface="Times New Roman" pitchFamily="18" charset="0"/>
              </a:rPr>
              <a:t>Hệ thống yêu cầu đối tượng thực hiện phương thức như sau:</a:t>
            </a:r>
          </a:p>
          <a:p>
            <a:pPr marL="723900" lvl="1" indent="-379413" defTabSz="746125">
              <a:spcAft>
                <a:spcPts val="600"/>
              </a:spcAft>
            </a:pPr>
            <a:r>
              <a:rPr lang="en-US" sz="2200" smtClean="0">
                <a:solidFill>
                  <a:schemeClr val="tx1"/>
                </a:solidFill>
                <a:latin typeface="Times New Roman" pitchFamily="18" charset="0"/>
                <a:cs typeface="Times New Roman" pitchFamily="18" charset="0"/>
              </a:rPr>
              <a:t>Gửi thông báo và tham số cho đối tượng</a:t>
            </a:r>
          </a:p>
          <a:p>
            <a:pPr marL="723900" lvl="1" indent="-379413" defTabSz="746125">
              <a:spcAft>
                <a:spcPts val="600"/>
              </a:spcAft>
            </a:pPr>
            <a:r>
              <a:rPr lang="en-US" sz="2200" smtClean="0">
                <a:solidFill>
                  <a:schemeClr val="tx1"/>
                </a:solidFill>
                <a:latin typeface="Times New Roman" pitchFamily="18" charset="0"/>
                <a:cs typeface="Times New Roman" pitchFamily="18" charset="0"/>
              </a:rPr>
              <a:t>Kiểm tra tính hợp lệ của thông báo</a:t>
            </a:r>
          </a:p>
          <a:p>
            <a:pPr marL="723900" lvl="1" indent="-379413" defTabSz="746125">
              <a:spcAft>
                <a:spcPts val="600"/>
              </a:spcAft>
            </a:pPr>
            <a:r>
              <a:rPr lang="en-US" sz="2200" smtClean="0">
                <a:solidFill>
                  <a:schemeClr val="tx1"/>
                </a:solidFill>
                <a:latin typeface="Times New Roman" pitchFamily="18" charset="0"/>
                <a:cs typeface="Times New Roman" pitchFamily="18" charset="0"/>
              </a:rPr>
              <a:t>Gọi thực hiện hàm tương ứng phương thức</a:t>
            </a:r>
            <a:endParaRPr lang="en-US" sz="2200">
              <a:solidFill>
                <a:schemeClr val="tx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31838"/>
            <a:ext cx="8229600" cy="792162"/>
          </a:xfrm>
        </p:spPr>
        <p:txBody>
          <a:bodyPr>
            <a:normAutofit/>
          </a:bodyPr>
          <a:lstStyle/>
          <a:p>
            <a:pPr algn="ctr"/>
            <a:r>
              <a:rPr lang="en-US" sz="3600" b="1" smtClean="0">
                <a:solidFill>
                  <a:srgbClr val="0070C0"/>
                </a:solidFill>
                <a:latin typeface="Times New Roman" pitchFamily="18" charset="0"/>
                <a:cs typeface="Times New Roman" pitchFamily="18" charset="0"/>
              </a:rPr>
              <a:t>Sự đóng gói</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676400"/>
            <a:ext cx="8686800" cy="4800600"/>
          </a:xfrm>
        </p:spPr>
        <p:txBody>
          <a:bodyPr>
            <a:noAutofit/>
          </a:bodyPr>
          <a:lstStyle/>
          <a:p>
            <a:pPr marL="609600" indent="-609600" defTabSz="746125">
              <a:lnSpc>
                <a:spcPct val="90000"/>
              </a:lnSpc>
            </a:pPr>
            <a:r>
              <a:rPr lang="en-US" b="1" smtClean="0">
                <a:latin typeface="Times New Roman" pitchFamily="18" charset="0"/>
                <a:cs typeface="Times New Roman" pitchFamily="18" charset="0"/>
              </a:rPr>
              <a:t>Khái niệm:</a:t>
            </a:r>
          </a:p>
          <a:p>
            <a:pPr marL="723900" lvl="1" indent="-379413" defTabSz="746125">
              <a:lnSpc>
                <a:spcPct val="90000"/>
              </a:lnSpc>
            </a:pPr>
            <a:r>
              <a:rPr lang="en-US" smtClean="0">
                <a:solidFill>
                  <a:schemeClr val="tx1"/>
                </a:solidFill>
                <a:latin typeface="Times New Roman" pitchFamily="18" charset="0"/>
                <a:cs typeface="Times New Roman" pitchFamily="18" charset="0"/>
              </a:rPr>
              <a:t>Là cơ chế ràng buộc dữ liệu và các thao tác trên dữ liệu thành thể thống nhất.</a:t>
            </a:r>
          </a:p>
          <a:p>
            <a:pPr marL="609600" indent="-609600" defTabSz="746125">
              <a:lnSpc>
                <a:spcPct val="90000"/>
              </a:lnSpc>
            </a:pPr>
            <a:r>
              <a:rPr lang="en-US" b="1" smtClean="0">
                <a:latin typeface="Times New Roman" pitchFamily="18" charset="0"/>
                <a:cs typeface="Times New Roman" pitchFamily="18" charset="0"/>
              </a:rPr>
              <a:t>Đóng gói gồm:</a:t>
            </a:r>
          </a:p>
          <a:p>
            <a:pPr marL="723900" lvl="1" indent="-379413" defTabSz="746125">
              <a:lnSpc>
                <a:spcPct val="90000"/>
              </a:lnSpc>
            </a:pPr>
            <a:r>
              <a:rPr lang="en-US" smtClean="0">
                <a:solidFill>
                  <a:schemeClr val="tx1"/>
                </a:solidFill>
                <a:latin typeface="Times New Roman" pitchFamily="18" charset="0"/>
                <a:cs typeface="Times New Roman" pitchFamily="18" charset="0"/>
              </a:rPr>
              <a:t>Bao gói: người dùng giao tiếp với hệ thống qua giao diện</a:t>
            </a:r>
          </a:p>
          <a:p>
            <a:pPr marL="723900" lvl="1" indent="-379413" defTabSz="746125">
              <a:lnSpc>
                <a:spcPct val="90000"/>
              </a:lnSpc>
            </a:pPr>
            <a:r>
              <a:rPr lang="en-US" smtClean="0">
                <a:solidFill>
                  <a:schemeClr val="tx1"/>
                </a:solidFill>
                <a:latin typeface="Times New Roman" pitchFamily="18" charset="0"/>
                <a:cs typeface="Times New Roman" pitchFamily="18" charset="0"/>
              </a:rPr>
              <a:t>Che dấu: ngăn chặn các thao tác không được phép từ bên ngoài</a:t>
            </a:r>
          </a:p>
          <a:p>
            <a:pPr marL="609600" indent="-609600" defTabSz="746125">
              <a:lnSpc>
                <a:spcPct val="90000"/>
              </a:lnSpc>
            </a:pPr>
            <a:r>
              <a:rPr lang="en-US" b="1" smtClean="0">
                <a:latin typeface="Times New Roman" pitchFamily="18" charset="0"/>
                <a:cs typeface="Times New Roman" pitchFamily="18" charset="0"/>
              </a:rPr>
              <a:t>Ưu điểm:</a:t>
            </a:r>
          </a:p>
          <a:p>
            <a:pPr marL="723900" lvl="1" indent="-379413" defTabSz="746125">
              <a:lnSpc>
                <a:spcPct val="90000"/>
              </a:lnSpc>
            </a:pPr>
            <a:r>
              <a:rPr lang="en-US" smtClean="0">
                <a:solidFill>
                  <a:schemeClr val="tx1"/>
                </a:solidFill>
                <a:latin typeface="Times New Roman" pitchFamily="18" charset="0"/>
                <a:cs typeface="Times New Roman" pitchFamily="18" charset="0"/>
              </a:rPr>
              <a:t>Quản lý sự thay đổi</a:t>
            </a:r>
          </a:p>
          <a:p>
            <a:pPr marL="723900" lvl="1" indent="-379413" defTabSz="746125">
              <a:lnSpc>
                <a:spcPct val="90000"/>
              </a:lnSpc>
            </a:pPr>
            <a:r>
              <a:rPr lang="en-US" smtClean="0">
                <a:solidFill>
                  <a:schemeClr val="tx1"/>
                </a:solidFill>
                <a:latin typeface="Times New Roman" pitchFamily="18" charset="0"/>
                <a:cs typeface="Times New Roman" pitchFamily="18" charset="0"/>
              </a:rPr>
              <a:t>Bảo vệ dữ liệu </a:t>
            </a:r>
            <a:endParaRPr lang="en-US">
              <a:solidFill>
                <a:schemeClr val="tx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792162"/>
          </a:xfrm>
        </p:spPr>
        <p:txBody>
          <a:bodyPr>
            <a:normAutofit/>
          </a:bodyPr>
          <a:lstStyle/>
          <a:p>
            <a:pPr algn="ctr"/>
            <a:r>
              <a:rPr lang="en-US" sz="3600" b="1" smtClean="0">
                <a:solidFill>
                  <a:srgbClr val="0070C0"/>
                </a:solidFill>
                <a:latin typeface="Times New Roman" pitchFamily="18" charset="0"/>
                <a:cs typeface="Times New Roman" pitchFamily="18" charset="0"/>
              </a:rPr>
              <a:t>Sự kế thừa</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228600" y="1295400"/>
            <a:ext cx="8686800" cy="5105400"/>
          </a:xfrm>
        </p:spPr>
        <p:txBody>
          <a:bodyPr>
            <a:noAutofit/>
          </a:bodyPr>
          <a:lstStyle/>
          <a:p>
            <a:pPr marL="609600" indent="-609600" defTabSz="746125"/>
            <a:r>
              <a:rPr lang="en-US" b="1" smtClean="0">
                <a:latin typeface="Times New Roman" pitchFamily="18" charset="0"/>
                <a:cs typeface="Times New Roman" pitchFamily="18" charset="0"/>
              </a:rPr>
              <a:t>Khái niệm:</a:t>
            </a:r>
          </a:p>
          <a:p>
            <a:pPr marL="723900" lvl="1" indent="-379413" defTabSz="746125"/>
            <a:r>
              <a:rPr lang="en-US" smtClean="0">
                <a:solidFill>
                  <a:schemeClr val="tx1"/>
                </a:solidFill>
                <a:latin typeface="Times New Roman" pitchFamily="18" charset="0"/>
                <a:cs typeface="Times New Roman" pitchFamily="18" charset="0"/>
              </a:rPr>
              <a:t>Khả năng cho phép xây dựng lớp mới được thừa hưởng các thuộc tính của lớp đã có</a:t>
            </a:r>
          </a:p>
          <a:p>
            <a:pPr marL="609600" indent="-609600" defTabSz="746125"/>
            <a:r>
              <a:rPr lang="en-US" b="1" smtClean="0">
                <a:latin typeface="Times New Roman" pitchFamily="18" charset="0"/>
                <a:cs typeface="Times New Roman" pitchFamily="18" charset="0"/>
              </a:rPr>
              <a:t>Đặc điểm:</a:t>
            </a:r>
          </a:p>
          <a:p>
            <a:pPr marL="723900" lvl="1" indent="-379413" defTabSz="746125"/>
            <a:r>
              <a:rPr lang="en-US" smtClean="0">
                <a:solidFill>
                  <a:schemeClr val="tx1"/>
                </a:solidFill>
                <a:latin typeface="Times New Roman" pitchFamily="18" charset="0"/>
                <a:cs typeface="Times New Roman" pitchFamily="18" charset="0"/>
              </a:rPr>
              <a:t>Lớp nhận được có thể bổ sung các thành phần</a:t>
            </a:r>
          </a:p>
          <a:p>
            <a:pPr marL="723900" lvl="1" indent="-379413" defTabSz="746125"/>
            <a:r>
              <a:rPr lang="en-US" smtClean="0">
                <a:solidFill>
                  <a:schemeClr val="tx1"/>
                </a:solidFill>
                <a:latin typeface="Times New Roman" pitchFamily="18" charset="0"/>
                <a:cs typeface="Times New Roman" pitchFamily="18" charset="0"/>
              </a:rPr>
              <a:t>Hoặc định nghĩa là các thuộc tính của lớp cha</a:t>
            </a:r>
          </a:p>
          <a:p>
            <a:pPr marL="609600" indent="-609600" defTabSz="746125"/>
            <a:r>
              <a:rPr lang="en-US" b="1" smtClean="0">
                <a:latin typeface="Times New Roman" pitchFamily="18" charset="0"/>
                <a:cs typeface="Times New Roman" pitchFamily="18" charset="0"/>
              </a:rPr>
              <a:t>Các loại kế thừa:</a:t>
            </a:r>
          </a:p>
          <a:p>
            <a:pPr marL="723900" lvl="1" indent="-379413" defTabSz="746125"/>
            <a:r>
              <a:rPr lang="en-US" smtClean="0">
                <a:solidFill>
                  <a:schemeClr val="tx1"/>
                </a:solidFill>
                <a:latin typeface="Times New Roman" pitchFamily="18" charset="0"/>
                <a:cs typeface="Times New Roman" pitchFamily="18" charset="0"/>
              </a:rPr>
              <a:t>Đơn kế thừa</a:t>
            </a:r>
          </a:p>
          <a:p>
            <a:pPr marL="723900" lvl="1" indent="-379413" defTabSz="746125"/>
            <a:r>
              <a:rPr lang="en-US" smtClean="0">
                <a:solidFill>
                  <a:schemeClr val="tx1"/>
                </a:solidFill>
                <a:latin typeface="Times New Roman" pitchFamily="18" charset="0"/>
                <a:cs typeface="Times New Roman" pitchFamily="18" charset="0"/>
              </a:rPr>
              <a:t>Đa kế thừa </a:t>
            </a:r>
            <a:endParaRPr lang="en-US">
              <a:solidFill>
                <a:schemeClr val="tx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9438"/>
            <a:ext cx="8229600" cy="792162"/>
          </a:xfrm>
        </p:spPr>
        <p:txBody>
          <a:bodyPr>
            <a:normAutofit/>
          </a:bodyPr>
          <a:lstStyle/>
          <a:p>
            <a:pPr algn="ctr"/>
            <a:r>
              <a:rPr lang="en-US" sz="3600" b="1" smtClean="0">
                <a:solidFill>
                  <a:srgbClr val="0070C0"/>
                </a:solidFill>
                <a:latin typeface="Times New Roman" pitchFamily="18" charset="0"/>
                <a:cs typeface="Times New Roman" pitchFamily="18" charset="0"/>
              </a:rPr>
              <a:t>Sự đa hình</a:t>
            </a:r>
            <a:endParaRPr lang="vi-VN" sz="3400" b="1">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762000" y="1676400"/>
            <a:ext cx="7924800" cy="4648200"/>
          </a:xfrm>
        </p:spPr>
        <p:txBody>
          <a:bodyPr>
            <a:noAutofit/>
          </a:bodyPr>
          <a:lstStyle/>
          <a:p>
            <a:pPr algn="just">
              <a:spcAft>
                <a:spcPts val="1200"/>
              </a:spcAft>
            </a:pPr>
            <a:r>
              <a:rPr lang="vi-VN" sz="2400" smtClean="0"/>
              <a:t>Cho phép các lớp được định nghĩa các phương thức trùng nhau: cùng tên, cùng số lượng và kiểu tham số, cùng kiểu trả về. Việc định nghĩa phương thức trùng nhau của các lớp kế thừa nhau còn được gọi là sự nạp chồng phương thức.</a:t>
            </a:r>
          </a:p>
          <a:p>
            <a:pPr algn="just">
              <a:spcAft>
                <a:spcPts val="1200"/>
              </a:spcAft>
            </a:pPr>
            <a:r>
              <a:rPr lang="vi-VN" sz="2400" smtClean="0"/>
              <a:t>Khi gọi các phương thức trùng tên, dựa vào đối tượng đang gọi mà chương trình sẽ thực hiện phương thức của lớp tương ứng, và do đó, sẽ cho các kết quả khác nhau</a:t>
            </a:r>
          </a:p>
          <a:p>
            <a:pPr algn="just">
              <a:spcAft>
                <a:spcPts val="1200"/>
              </a:spcAft>
            </a:pPr>
            <a:r>
              <a:rPr lang="vi-VN" sz="2400" smtClean="0">
                <a:cs typeface="Times New Roman" pitchFamily="18" charset="0"/>
              </a:rPr>
              <a:t>Ví dụ: Lớp người, lớp nhân viên, lớp sinh viên đều có phương thức Show().</a:t>
            </a:r>
            <a:endParaRPr lang="en-US" sz="2400" smtClean="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762000" y="685800"/>
            <a:ext cx="8229600" cy="1066800"/>
          </a:xfrm>
        </p:spPr>
        <p:txBody>
          <a:bodyPr>
            <a:normAutofit/>
          </a:bodyPr>
          <a:lstStyle/>
          <a:p>
            <a:pPr algn="ctr"/>
            <a:r>
              <a:rPr lang="en-US" sz="3400" b="1" smtClean="0">
                <a:solidFill>
                  <a:srgbClr val="0070C0"/>
                </a:solidFill>
                <a:latin typeface="Times New Roman" pitchFamily="18" charset="0"/>
                <a:cs typeface="Times New Roman" pitchFamily="18" charset="0"/>
              </a:rPr>
              <a:t>Các </a:t>
            </a:r>
            <a:r>
              <a:rPr lang="en-US" sz="3400" b="1">
                <a:solidFill>
                  <a:srgbClr val="0070C0"/>
                </a:solidFill>
                <a:latin typeface="Times New Roman" pitchFamily="18" charset="0"/>
                <a:cs typeface="Times New Roman" pitchFamily="18" charset="0"/>
              </a:rPr>
              <a:t>bước thiết kế chương trình OOP</a:t>
            </a:r>
          </a:p>
        </p:txBody>
      </p:sp>
      <p:sp>
        <p:nvSpPr>
          <p:cNvPr id="31747" name="Rectangle 3"/>
          <p:cNvSpPr>
            <a:spLocks noGrp="1" noChangeArrowheads="1"/>
          </p:cNvSpPr>
          <p:nvPr>
            <p:ph idx="1"/>
          </p:nvPr>
        </p:nvSpPr>
        <p:spPr>
          <a:xfrm>
            <a:off x="609600" y="1752600"/>
            <a:ext cx="8229600" cy="4821936"/>
          </a:xfrm>
        </p:spPr>
        <p:txBody>
          <a:bodyPr>
            <a:normAutofit/>
          </a:bodyPr>
          <a:lstStyle/>
          <a:p>
            <a:pPr marL="609600" indent="-609600" defTabSz="746125"/>
            <a:r>
              <a:rPr lang="vi-VN" b="1" smtClean="0"/>
              <a:t>Bước 1: Mô tả bài toán</a:t>
            </a:r>
            <a:endParaRPr lang="en-US" b="1" smtClean="0"/>
          </a:p>
          <a:p>
            <a:pPr marL="609600" indent="-609600" defTabSz="746125"/>
            <a:r>
              <a:rPr lang="vi-VN" b="1" smtClean="0"/>
              <a:t>Bước 2: Đặc tả yêu cầu</a:t>
            </a:r>
            <a:endParaRPr lang="en-US" b="1" smtClean="0"/>
          </a:p>
          <a:p>
            <a:pPr marL="609600" indent="-609600" defTabSz="746125"/>
            <a:r>
              <a:rPr lang="vi-VN" b="1" smtClean="0"/>
              <a:t>Bước 3: Trích chọn đối tượng</a:t>
            </a:r>
            <a:endParaRPr lang="en-US" b="1" smtClean="0"/>
          </a:p>
          <a:p>
            <a:pPr marL="609600" indent="-609600" defTabSz="746125"/>
            <a:r>
              <a:rPr lang="vi-VN" b="1" smtClean="0"/>
              <a:t>Bước 4: Mô hình hoá lớp đối tượng</a:t>
            </a:r>
            <a:endParaRPr lang="en-US" b="1" smtClean="0"/>
          </a:p>
          <a:p>
            <a:pPr marL="609600" indent="-609600" defTabSz="746125"/>
            <a:r>
              <a:rPr lang="vi-VN" b="1" smtClean="0"/>
              <a:t>Bước 5: Thiết kế tổng quát</a:t>
            </a:r>
          </a:p>
          <a:p>
            <a:pPr marL="1009650" lvl="1" indent="-609600" defTabSz="746125"/>
            <a:r>
              <a:rPr lang="vi-VN" sz="2400" smtClean="0">
                <a:solidFill>
                  <a:schemeClr val="tx1"/>
                </a:solidFill>
              </a:rPr>
              <a:t>Bước này sẽ tiến hành thiết kế vĩ mô, nghĩa là thiết kế mối quan hệ giữa các lớp trong hệ thống</a:t>
            </a:r>
            <a:endParaRPr lang="en-US" sz="2400" smtClean="0">
              <a:solidFill>
                <a:schemeClr val="tx1"/>
              </a:solidFill>
            </a:endParaRPr>
          </a:p>
          <a:p>
            <a:pPr marL="609600" indent="-609600" defTabSz="746125"/>
            <a:r>
              <a:rPr lang="vi-VN" b="1" smtClean="0"/>
              <a:t>Bước 6: Thiết kế chi tiết</a:t>
            </a:r>
          </a:p>
          <a:p>
            <a:pPr lvl="1"/>
            <a:r>
              <a:rPr lang="vi-VN" sz="2400" smtClean="0">
                <a:solidFill>
                  <a:schemeClr val="tx1"/>
                </a:solidFill>
              </a:rPr>
              <a:t>Bước này sẽ thực hiện thiết kế ở mức vi mô, nghĩa là thiết kế kiến trúc bên trong của mỗi lớp đối tượng</a:t>
            </a:r>
            <a:endParaRPr lang="en-US" sz="2400">
              <a:solidFill>
                <a:schemeClr val="tx1"/>
              </a:solidFill>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blinds(horizontal)">
                                      <p:cBhvr>
                                        <p:cTn id="7" dur="5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blinds(horizontal)">
                                      <p:cBhvr>
                                        <p:cTn id="12" dur="500"/>
                                        <p:tgtEl>
                                          <p:spTgt spid="317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1747">
                                            <p:txEl>
                                              <p:pRg st="2" end="2"/>
                                            </p:txEl>
                                          </p:spTgt>
                                        </p:tgtEl>
                                        <p:attrNameLst>
                                          <p:attrName>style.visibility</p:attrName>
                                        </p:attrNameLst>
                                      </p:cBhvr>
                                      <p:to>
                                        <p:strVal val="visible"/>
                                      </p:to>
                                    </p:set>
                                    <p:animEffect transition="in" filter="blinds(horizontal)">
                                      <p:cBhvr>
                                        <p:cTn id="17" dur="500"/>
                                        <p:tgtEl>
                                          <p:spTgt spid="317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1747">
                                            <p:txEl>
                                              <p:pRg st="3" end="3"/>
                                            </p:txEl>
                                          </p:spTgt>
                                        </p:tgtEl>
                                        <p:attrNameLst>
                                          <p:attrName>style.visibility</p:attrName>
                                        </p:attrNameLst>
                                      </p:cBhvr>
                                      <p:to>
                                        <p:strVal val="visible"/>
                                      </p:to>
                                    </p:set>
                                    <p:animEffect transition="in" filter="blinds(horizontal)">
                                      <p:cBhvr>
                                        <p:cTn id="22" dur="500"/>
                                        <p:tgtEl>
                                          <p:spTgt spid="317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1747">
                                            <p:txEl>
                                              <p:pRg st="4" end="4"/>
                                            </p:txEl>
                                          </p:spTgt>
                                        </p:tgtEl>
                                        <p:attrNameLst>
                                          <p:attrName>style.visibility</p:attrName>
                                        </p:attrNameLst>
                                      </p:cBhvr>
                                      <p:to>
                                        <p:strVal val="visible"/>
                                      </p:to>
                                    </p:set>
                                    <p:animEffect transition="in" filter="blinds(horizontal)">
                                      <p:cBhvr>
                                        <p:cTn id="27" dur="500"/>
                                        <p:tgtEl>
                                          <p:spTgt spid="317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1747">
                                            <p:txEl>
                                              <p:pRg st="5" end="5"/>
                                            </p:txEl>
                                          </p:spTgt>
                                        </p:tgtEl>
                                        <p:attrNameLst>
                                          <p:attrName>style.visibility</p:attrName>
                                        </p:attrNameLst>
                                      </p:cBhvr>
                                      <p:to>
                                        <p:strVal val="visible"/>
                                      </p:to>
                                    </p:set>
                                    <p:animEffect transition="in" filter="blinds(horizontal)">
                                      <p:cBhvr>
                                        <p:cTn id="32" dur="500"/>
                                        <p:tgtEl>
                                          <p:spTgt spid="317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1747">
                                            <p:txEl>
                                              <p:pRg st="6" end="6"/>
                                            </p:txEl>
                                          </p:spTgt>
                                        </p:tgtEl>
                                        <p:attrNameLst>
                                          <p:attrName>style.visibility</p:attrName>
                                        </p:attrNameLst>
                                      </p:cBhvr>
                                      <p:to>
                                        <p:strVal val="visible"/>
                                      </p:to>
                                    </p:set>
                                    <p:animEffect transition="in" filter="blinds(horizontal)">
                                      <p:cBhvr>
                                        <p:cTn id="37" dur="500"/>
                                        <p:tgtEl>
                                          <p:spTgt spid="317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1747">
                                            <p:txEl>
                                              <p:pRg st="7" end="7"/>
                                            </p:txEl>
                                          </p:spTgt>
                                        </p:tgtEl>
                                        <p:attrNameLst>
                                          <p:attrName>style.visibility</p:attrName>
                                        </p:attrNameLst>
                                      </p:cBhvr>
                                      <p:to>
                                        <p:strVal val="visible"/>
                                      </p:to>
                                    </p:set>
                                    <p:animEffect transition="in" filter="blinds(horizontal)">
                                      <p:cBhvr>
                                        <p:cTn id="42" dur="500"/>
                                        <p:tgtEl>
                                          <p:spTgt spid="317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09600" y="762000"/>
            <a:ext cx="8229600" cy="1066800"/>
          </a:xfrm>
        </p:spPr>
        <p:txBody>
          <a:bodyPr/>
          <a:lstStyle/>
          <a:p>
            <a:pPr algn="ctr"/>
            <a:r>
              <a:rPr lang="en-US" b="1" smtClean="0">
                <a:solidFill>
                  <a:srgbClr val="0070C0"/>
                </a:solidFill>
                <a:latin typeface="Times New Roman" pitchFamily="18" charset="0"/>
                <a:cs typeface="Times New Roman" pitchFamily="18" charset="0"/>
              </a:rPr>
              <a:t>Ưu </a:t>
            </a:r>
            <a:r>
              <a:rPr lang="en-US" b="1">
                <a:solidFill>
                  <a:srgbClr val="0070C0"/>
                </a:solidFill>
                <a:latin typeface="Times New Roman" pitchFamily="18" charset="0"/>
                <a:cs typeface="Times New Roman" pitchFamily="18" charset="0"/>
              </a:rPr>
              <a:t>điểm của OOP</a:t>
            </a:r>
          </a:p>
        </p:txBody>
      </p:sp>
      <p:sp>
        <p:nvSpPr>
          <p:cNvPr id="32771" name="Rectangle 3"/>
          <p:cNvSpPr>
            <a:spLocks noGrp="1" noChangeArrowheads="1"/>
          </p:cNvSpPr>
          <p:nvPr>
            <p:ph idx="1"/>
          </p:nvPr>
        </p:nvSpPr>
        <p:spPr>
          <a:xfrm>
            <a:off x="457200" y="1905000"/>
            <a:ext cx="8229600" cy="4669536"/>
          </a:xfrm>
        </p:spPr>
        <p:txBody>
          <a:bodyPr>
            <a:normAutofit/>
          </a:bodyPr>
          <a:lstStyle/>
          <a:p>
            <a:pPr marL="609600" indent="-609600" defTabSz="746125"/>
            <a:r>
              <a:rPr lang="en-US" sz="3600" b="1">
                <a:latin typeface="Times New Roman" pitchFamily="18" charset="0"/>
                <a:cs typeface="Times New Roman" pitchFamily="18" charset="0"/>
              </a:rPr>
              <a:t>Ưu điểm chính:</a:t>
            </a:r>
          </a:p>
          <a:p>
            <a:pPr marL="723900" lvl="1" indent="-379413" defTabSz="746125"/>
            <a:r>
              <a:rPr lang="en-US" sz="3200">
                <a:solidFill>
                  <a:schemeClr val="tx1"/>
                </a:solidFill>
                <a:latin typeface="Times New Roman" pitchFamily="18" charset="0"/>
                <a:cs typeface="Times New Roman" pitchFamily="18" charset="0"/>
              </a:rPr>
              <a:t>Loại bỏ các đoạn mã lặp lại</a:t>
            </a:r>
          </a:p>
          <a:p>
            <a:pPr marL="723900" lvl="1" indent="-379413" defTabSz="746125"/>
            <a:r>
              <a:rPr lang="en-US" sz="3200">
                <a:solidFill>
                  <a:schemeClr val="tx1"/>
                </a:solidFill>
                <a:latin typeface="Times New Roman" pitchFamily="18" charset="0"/>
                <a:cs typeface="Times New Roman" pitchFamily="18" charset="0"/>
              </a:rPr>
              <a:t>Tạo ra các chương trình an toàn, bảo mật</a:t>
            </a:r>
          </a:p>
          <a:p>
            <a:pPr marL="723900" lvl="1" indent="-379413" defTabSz="746125"/>
            <a:r>
              <a:rPr lang="en-US" sz="3200">
                <a:solidFill>
                  <a:schemeClr val="tx1"/>
                </a:solidFill>
                <a:latin typeface="Times New Roman" pitchFamily="18" charset="0"/>
                <a:cs typeface="Times New Roman" pitchFamily="18" charset="0"/>
              </a:rPr>
              <a:t>Dễ dàng mở rộng và nâng cấp</a:t>
            </a:r>
          </a:p>
          <a:p>
            <a:pPr marL="723900" lvl="1" indent="-379413" defTabSz="746125"/>
            <a:r>
              <a:rPr lang="en-US" sz="3200">
                <a:solidFill>
                  <a:schemeClr val="tx1"/>
                </a:solidFill>
                <a:latin typeface="Times New Roman" pitchFamily="18" charset="0"/>
                <a:cs typeface="Times New Roman" pitchFamily="18" charset="0"/>
              </a:rPr>
              <a:t>Rút ngắn thời gian xây dựng hệ thống</a:t>
            </a:r>
          </a:p>
          <a:p>
            <a:pPr marL="723900" lvl="1" indent="-379413" defTabSz="746125"/>
            <a:r>
              <a:rPr lang="en-US" sz="3200">
                <a:solidFill>
                  <a:schemeClr val="tx1"/>
                </a:solidFill>
                <a:latin typeface="Times New Roman" pitchFamily="18" charset="0"/>
                <a:cs typeface="Times New Roman" pitchFamily="18" charset="0"/>
              </a:rPr>
              <a:t>Tăng năng </a:t>
            </a:r>
            <a:r>
              <a:rPr lang="en-US" sz="3200" smtClean="0">
                <a:solidFill>
                  <a:schemeClr val="tx1"/>
                </a:solidFill>
                <a:latin typeface="Times New Roman" pitchFamily="18" charset="0"/>
                <a:cs typeface="Times New Roman" pitchFamily="18" charset="0"/>
              </a:rPr>
              <a:t>suất </a:t>
            </a:r>
            <a:r>
              <a:rPr lang="en-US" sz="3200">
                <a:solidFill>
                  <a:schemeClr val="tx1"/>
                </a:solidFill>
                <a:latin typeface="Times New Roman" pitchFamily="18" charset="0"/>
                <a:cs typeface="Times New Roman" pitchFamily="18" charset="0"/>
              </a:rPr>
              <a:t>và hiệu quả hơn</a:t>
            </a:r>
          </a:p>
          <a:p>
            <a:pPr marL="723900" lvl="1" indent="-379413" defTabSz="746125"/>
            <a:r>
              <a:rPr lang="en-US" sz="3200">
                <a:solidFill>
                  <a:schemeClr val="tx1"/>
                </a:solidFill>
                <a:latin typeface="Times New Roman" pitchFamily="18" charset="0"/>
                <a:cs typeface="Times New Roman" pitchFamily="18" charset="0"/>
              </a:rPr>
              <a:t>Chương trình được thiết kế theo đúng qui trình</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blinds(horizontal)">
                                      <p:cBhvr>
                                        <p:cTn id="7" dur="500"/>
                                        <p:tgtEl>
                                          <p:spTgt spid="32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2771">
                                            <p:txEl>
                                              <p:pRg st="1" end="1"/>
                                            </p:txEl>
                                          </p:spTgt>
                                        </p:tgtEl>
                                        <p:attrNameLst>
                                          <p:attrName>style.visibility</p:attrName>
                                        </p:attrNameLst>
                                      </p:cBhvr>
                                      <p:to>
                                        <p:strVal val="visible"/>
                                      </p:to>
                                    </p:set>
                                    <p:animEffect transition="in" filter="blinds(horizontal)">
                                      <p:cBhvr>
                                        <p:cTn id="12" dur="500"/>
                                        <p:tgtEl>
                                          <p:spTgt spid="327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7" presetClass="entr" presetSubtype="0" fill="hold" nodeType="clickEffect">
                                  <p:stCondLst>
                                    <p:cond delay="0"/>
                                  </p:stCondLst>
                                  <p:iterate type="lt">
                                    <p:tmPct val="50000"/>
                                  </p:iterate>
                                  <p:childTnLst>
                                    <p:set>
                                      <p:cBhvr>
                                        <p:cTn id="16" dur="1" fill="hold">
                                          <p:stCondLst>
                                            <p:cond delay="0"/>
                                          </p:stCondLst>
                                        </p:cTn>
                                        <p:tgtEl>
                                          <p:spTgt spid="32771">
                                            <p:txEl>
                                              <p:pRg st="2" end="2"/>
                                            </p:txEl>
                                          </p:spTgt>
                                        </p:tgtEl>
                                        <p:attrNameLst>
                                          <p:attrName>style.visibility</p:attrName>
                                        </p:attrNameLst>
                                      </p:cBhvr>
                                      <p:to>
                                        <p:strVal val="visible"/>
                                      </p:to>
                                    </p:set>
                                    <p:anim calcmode="discrete" valueType="clr">
                                      <p:cBhvr override="childStyle">
                                        <p:cTn id="17" dur="80"/>
                                        <p:tgtEl>
                                          <p:spTgt spid="32771">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32771">
                                            <p:txEl>
                                              <p:pRg st="2" end="2"/>
                                            </p:txEl>
                                          </p:spTgt>
                                        </p:tgtEl>
                                        <p:attrNameLst>
                                          <p:attrName>fillcolor</p:attrName>
                                        </p:attrNameLst>
                                      </p:cBhvr>
                                      <p:tavLst>
                                        <p:tav tm="0">
                                          <p:val>
                                            <p:clrVal>
                                              <a:schemeClr val="accent2"/>
                                            </p:clrVal>
                                          </p:val>
                                        </p:tav>
                                        <p:tav tm="50000">
                                          <p:val>
                                            <p:clrVal>
                                              <a:schemeClr val="hlink"/>
                                            </p:clrVal>
                                          </p:val>
                                        </p:tav>
                                      </p:tavLst>
                                    </p:anim>
                                    <p:set>
                                      <p:cBhvr>
                                        <p:cTn id="19" dur="80"/>
                                        <p:tgtEl>
                                          <p:spTgt spid="32771">
                                            <p:txEl>
                                              <p:pRg st="2" end="2"/>
                                            </p:txEl>
                                          </p:spTgt>
                                        </p:tgtEl>
                                        <p:attrNameLst>
                                          <p:attrName>fill.type</p:attrName>
                                        </p:attrNameLst>
                                      </p:cBhvr>
                                      <p:to>
                                        <p:strVal val="solid"/>
                                      </p:to>
                                    </p:se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nodeType="clickEffect">
                                  <p:stCondLst>
                                    <p:cond delay="0"/>
                                  </p:stCondLst>
                                  <p:iterate type="lt">
                                    <p:tmPct val="50000"/>
                                  </p:iterate>
                                  <p:childTnLst>
                                    <p:set>
                                      <p:cBhvr>
                                        <p:cTn id="23" dur="1" fill="hold">
                                          <p:stCondLst>
                                            <p:cond delay="0"/>
                                          </p:stCondLst>
                                        </p:cTn>
                                        <p:tgtEl>
                                          <p:spTgt spid="32771">
                                            <p:txEl>
                                              <p:pRg st="3" end="3"/>
                                            </p:txEl>
                                          </p:spTgt>
                                        </p:tgtEl>
                                        <p:attrNameLst>
                                          <p:attrName>style.visibility</p:attrName>
                                        </p:attrNameLst>
                                      </p:cBhvr>
                                      <p:to>
                                        <p:strVal val="visible"/>
                                      </p:to>
                                    </p:set>
                                    <p:anim calcmode="discrete" valueType="clr">
                                      <p:cBhvr override="childStyle">
                                        <p:cTn id="24" dur="80"/>
                                        <p:tgtEl>
                                          <p:spTgt spid="32771">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32771">
                                            <p:txEl>
                                              <p:pRg st="3" end="3"/>
                                            </p:txEl>
                                          </p:spTgt>
                                        </p:tgtEl>
                                        <p:attrNameLst>
                                          <p:attrName>fillcolor</p:attrName>
                                        </p:attrNameLst>
                                      </p:cBhvr>
                                      <p:tavLst>
                                        <p:tav tm="0">
                                          <p:val>
                                            <p:clrVal>
                                              <a:schemeClr val="accent2"/>
                                            </p:clrVal>
                                          </p:val>
                                        </p:tav>
                                        <p:tav tm="50000">
                                          <p:val>
                                            <p:clrVal>
                                              <a:schemeClr val="hlink"/>
                                            </p:clrVal>
                                          </p:val>
                                        </p:tav>
                                      </p:tavLst>
                                    </p:anim>
                                    <p:set>
                                      <p:cBhvr>
                                        <p:cTn id="26" dur="80"/>
                                        <p:tgtEl>
                                          <p:spTgt spid="32771">
                                            <p:txEl>
                                              <p:pRg st="3" end="3"/>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nodeType="clickEffect">
                                  <p:stCondLst>
                                    <p:cond delay="0"/>
                                  </p:stCondLst>
                                  <p:iterate type="lt">
                                    <p:tmPct val="50000"/>
                                  </p:iterate>
                                  <p:childTnLst>
                                    <p:set>
                                      <p:cBhvr>
                                        <p:cTn id="30" dur="1" fill="hold">
                                          <p:stCondLst>
                                            <p:cond delay="0"/>
                                          </p:stCondLst>
                                        </p:cTn>
                                        <p:tgtEl>
                                          <p:spTgt spid="32771">
                                            <p:txEl>
                                              <p:pRg st="4" end="4"/>
                                            </p:txEl>
                                          </p:spTgt>
                                        </p:tgtEl>
                                        <p:attrNameLst>
                                          <p:attrName>style.visibility</p:attrName>
                                        </p:attrNameLst>
                                      </p:cBhvr>
                                      <p:to>
                                        <p:strVal val="visible"/>
                                      </p:to>
                                    </p:set>
                                    <p:anim calcmode="discrete" valueType="clr">
                                      <p:cBhvr override="childStyle">
                                        <p:cTn id="31" dur="80"/>
                                        <p:tgtEl>
                                          <p:spTgt spid="32771">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32771">
                                            <p:txEl>
                                              <p:pRg st="4" end="4"/>
                                            </p:txEl>
                                          </p:spTgt>
                                        </p:tgtEl>
                                        <p:attrNameLst>
                                          <p:attrName>fillcolor</p:attrName>
                                        </p:attrNameLst>
                                      </p:cBhvr>
                                      <p:tavLst>
                                        <p:tav tm="0">
                                          <p:val>
                                            <p:clrVal>
                                              <a:schemeClr val="accent2"/>
                                            </p:clrVal>
                                          </p:val>
                                        </p:tav>
                                        <p:tav tm="50000">
                                          <p:val>
                                            <p:clrVal>
                                              <a:schemeClr val="hlink"/>
                                            </p:clrVal>
                                          </p:val>
                                        </p:tav>
                                      </p:tavLst>
                                    </p:anim>
                                    <p:set>
                                      <p:cBhvr>
                                        <p:cTn id="33" dur="80"/>
                                        <p:tgtEl>
                                          <p:spTgt spid="32771">
                                            <p:txEl>
                                              <p:pRg st="4" end="4"/>
                                            </p:txEl>
                                          </p:spTgt>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27" presetClass="entr" presetSubtype="0" fill="hold" nodeType="clickEffect">
                                  <p:stCondLst>
                                    <p:cond delay="0"/>
                                  </p:stCondLst>
                                  <p:iterate type="lt">
                                    <p:tmPct val="50000"/>
                                  </p:iterate>
                                  <p:childTnLst>
                                    <p:set>
                                      <p:cBhvr>
                                        <p:cTn id="37" dur="1" fill="hold">
                                          <p:stCondLst>
                                            <p:cond delay="0"/>
                                          </p:stCondLst>
                                        </p:cTn>
                                        <p:tgtEl>
                                          <p:spTgt spid="32771">
                                            <p:txEl>
                                              <p:pRg st="5" end="5"/>
                                            </p:txEl>
                                          </p:spTgt>
                                        </p:tgtEl>
                                        <p:attrNameLst>
                                          <p:attrName>style.visibility</p:attrName>
                                        </p:attrNameLst>
                                      </p:cBhvr>
                                      <p:to>
                                        <p:strVal val="visible"/>
                                      </p:to>
                                    </p:set>
                                    <p:anim calcmode="discrete" valueType="clr">
                                      <p:cBhvr override="childStyle">
                                        <p:cTn id="38" dur="80"/>
                                        <p:tgtEl>
                                          <p:spTgt spid="32771">
                                            <p:txEl>
                                              <p:pRg st="5" end="5"/>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9" dur="80"/>
                                        <p:tgtEl>
                                          <p:spTgt spid="32771">
                                            <p:txEl>
                                              <p:pRg st="5" end="5"/>
                                            </p:txEl>
                                          </p:spTgt>
                                        </p:tgtEl>
                                        <p:attrNameLst>
                                          <p:attrName>fillcolor</p:attrName>
                                        </p:attrNameLst>
                                      </p:cBhvr>
                                      <p:tavLst>
                                        <p:tav tm="0">
                                          <p:val>
                                            <p:clrVal>
                                              <a:schemeClr val="accent2"/>
                                            </p:clrVal>
                                          </p:val>
                                        </p:tav>
                                        <p:tav tm="50000">
                                          <p:val>
                                            <p:clrVal>
                                              <a:schemeClr val="hlink"/>
                                            </p:clrVal>
                                          </p:val>
                                        </p:tav>
                                      </p:tavLst>
                                    </p:anim>
                                    <p:set>
                                      <p:cBhvr>
                                        <p:cTn id="40" dur="80"/>
                                        <p:tgtEl>
                                          <p:spTgt spid="32771">
                                            <p:txEl>
                                              <p:pRg st="5" end="5"/>
                                            </p:txEl>
                                          </p:spTgt>
                                        </p:tgtEl>
                                        <p:attrNameLst>
                                          <p:attrName>fill.type</p:attrName>
                                        </p:attrNameLst>
                                      </p:cBhvr>
                                      <p:to>
                                        <p:strVal val="solid"/>
                                      </p:to>
                                    </p:set>
                                  </p:childTnLst>
                                </p:cTn>
                              </p:par>
                            </p:childTnLst>
                          </p:cTn>
                        </p:par>
                      </p:childTnLst>
                    </p:cTn>
                  </p:par>
                  <p:par>
                    <p:cTn id="41" fill="hold">
                      <p:stCondLst>
                        <p:cond delay="indefinite"/>
                      </p:stCondLst>
                      <p:childTnLst>
                        <p:par>
                          <p:cTn id="42" fill="hold">
                            <p:stCondLst>
                              <p:cond delay="0"/>
                            </p:stCondLst>
                            <p:childTnLst>
                              <p:par>
                                <p:cTn id="43" presetID="27" presetClass="entr" presetSubtype="0" fill="hold" nodeType="clickEffect">
                                  <p:stCondLst>
                                    <p:cond delay="0"/>
                                  </p:stCondLst>
                                  <p:iterate type="lt">
                                    <p:tmPct val="50000"/>
                                  </p:iterate>
                                  <p:childTnLst>
                                    <p:set>
                                      <p:cBhvr>
                                        <p:cTn id="44" dur="1" fill="hold">
                                          <p:stCondLst>
                                            <p:cond delay="0"/>
                                          </p:stCondLst>
                                        </p:cTn>
                                        <p:tgtEl>
                                          <p:spTgt spid="32771">
                                            <p:txEl>
                                              <p:pRg st="6" end="6"/>
                                            </p:txEl>
                                          </p:spTgt>
                                        </p:tgtEl>
                                        <p:attrNameLst>
                                          <p:attrName>style.visibility</p:attrName>
                                        </p:attrNameLst>
                                      </p:cBhvr>
                                      <p:to>
                                        <p:strVal val="visible"/>
                                      </p:to>
                                    </p:set>
                                    <p:anim calcmode="discrete" valueType="clr">
                                      <p:cBhvr override="childStyle">
                                        <p:cTn id="45" dur="80"/>
                                        <p:tgtEl>
                                          <p:spTgt spid="32771">
                                            <p:txEl>
                                              <p:pRg st="6" end="6"/>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6" dur="80"/>
                                        <p:tgtEl>
                                          <p:spTgt spid="32771">
                                            <p:txEl>
                                              <p:pRg st="6" end="6"/>
                                            </p:txEl>
                                          </p:spTgt>
                                        </p:tgtEl>
                                        <p:attrNameLst>
                                          <p:attrName>fillcolor</p:attrName>
                                        </p:attrNameLst>
                                      </p:cBhvr>
                                      <p:tavLst>
                                        <p:tav tm="0">
                                          <p:val>
                                            <p:clrVal>
                                              <a:schemeClr val="accent2"/>
                                            </p:clrVal>
                                          </p:val>
                                        </p:tav>
                                        <p:tav tm="50000">
                                          <p:val>
                                            <p:clrVal>
                                              <a:schemeClr val="hlink"/>
                                            </p:clrVal>
                                          </p:val>
                                        </p:tav>
                                      </p:tavLst>
                                    </p:anim>
                                    <p:set>
                                      <p:cBhvr>
                                        <p:cTn id="47" dur="80"/>
                                        <p:tgtEl>
                                          <p:spTgt spid="32771">
                                            <p:txEl>
                                              <p:pRg st="6" end="6"/>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algn="ctr"/>
            <a:r>
              <a:rPr lang="en-US" b="1" smtClean="0">
                <a:solidFill>
                  <a:srgbClr val="0070C0"/>
                </a:solidFill>
                <a:latin typeface="Times New Roman" pitchFamily="18" charset="0"/>
                <a:cs typeface="Times New Roman" pitchFamily="18" charset="0"/>
              </a:rPr>
              <a:t>Một </a:t>
            </a:r>
            <a:r>
              <a:rPr lang="en-US" b="1">
                <a:solidFill>
                  <a:srgbClr val="0070C0"/>
                </a:solidFill>
                <a:latin typeface="Times New Roman" pitchFamily="18" charset="0"/>
                <a:cs typeface="Times New Roman" pitchFamily="18" charset="0"/>
              </a:rPr>
              <a:t>số ngôn ngữ OOP</a:t>
            </a:r>
          </a:p>
        </p:txBody>
      </p:sp>
      <p:sp>
        <p:nvSpPr>
          <p:cNvPr id="33795" name="Rectangle 3"/>
          <p:cNvSpPr>
            <a:spLocks noGrp="1" noChangeArrowheads="1"/>
          </p:cNvSpPr>
          <p:nvPr>
            <p:ph idx="1"/>
          </p:nvPr>
        </p:nvSpPr>
        <p:spPr>
          <a:xfrm>
            <a:off x="533400" y="2590800"/>
            <a:ext cx="8153400" cy="3535363"/>
          </a:xfrm>
        </p:spPr>
        <p:txBody>
          <a:bodyPr>
            <a:normAutofit/>
          </a:bodyPr>
          <a:lstStyle/>
          <a:p>
            <a:r>
              <a:rPr lang="vi-VN" sz="3600" smtClean="0"/>
              <a:t>Ngôn ngữ lập trình C++</a:t>
            </a:r>
          </a:p>
          <a:p>
            <a:r>
              <a:rPr lang="vi-VN" sz="3600" smtClean="0"/>
              <a:t>Ngôn ngữ lập trình ASP.NET và C#.NET</a:t>
            </a:r>
          </a:p>
          <a:p>
            <a:r>
              <a:rPr lang="vi-VN" sz="3600" smtClean="0"/>
              <a:t>Ngôn ngữ lập trình Java</a:t>
            </a:r>
            <a:endParaRPr lang="en-US" sz="320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blinds(horizontal)">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blinds(horizontal)">
                                      <p:cBhvr>
                                        <p:cTn id="12" dur="500"/>
                                        <p:tgtEl>
                                          <p:spTgt spid="33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3795">
                                            <p:txEl>
                                              <p:pRg st="2" end="2"/>
                                            </p:txEl>
                                          </p:spTgt>
                                        </p:tgtEl>
                                        <p:attrNameLst>
                                          <p:attrName>style.visibility</p:attrName>
                                        </p:attrNameLst>
                                      </p:cBhvr>
                                      <p:to>
                                        <p:strVal val="visible"/>
                                      </p:to>
                                    </p:set>
                                    <p:animEffect transition="in" filter="blinds(horizontal)">
                                      <p:cBhvr>
                                        <p:cTn id="17" dur="500"/>
                                        <p:tgtEl>
                                          <p:spTgt spid="337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533400" y="762000"/>
            <a:ext cx="8229600" cy="914400"/>
          </a:xfrm>
        </p:spPr>
        <p:txBody>
          <a:bodyPr/>
          <a:lstStyle/>
          <a:p>
            <a:pPr algn="ctr"/>
            <a:r>
              <a:rPr lang="en-US" b="1" smtClean="0">
                <a:solidFill>
                  <a:srgbClr val="0070C0"/>
                </a:solidFill>
                <a:latin typeface="Times New Roman" pitchFamily="18" charset="0"/>
                <a:cs typeface="Times New Roman" pitchFamily="18" charset="0"/>
              </a:rPr>
              <a:t>Câu hỏi ôn tập</a:t>
            </a:r>
            <a:endParaRPr lang="en-US" b="1">
              <a:solidFill>
                <a:srgbClr val="0070C0"/>
              </a:solidFill>
              <a:latin typeface="Times New Roman" pitchFamily="18" charset="0"/>
              <a:cs typeface="Times New Roman" pitchFamily="18" charset="0"/>
            </a:endParaRPr>
          </a:p>
        </p:txBody>
      </p:sp>
      <p:sp>
        <p:nvSpPr>
          <p:cNvPr id="33795" name="Rectangle 3"/>
          <p:cNvSpPr>
            <a:spLocks noGrp="1" noChangeArrowheads="1"/>
          </p:cNvSpPr>
          <p:nvPr>
            <p:ph idx="1"/>
          </p:nvPr>
        </p:nvSpPr>
        <p:spPr>
          <a:xfrm>
            <a:off x="533400" y="1752600"/>
            <a:ext cx="8153400" cy="4373563"/>
          </a:xfrm>
        </p:spPr>
        <p:txBody>
          <a:bodyPr>
            <a:normAutofit fontScale="92500" lnSpcReduction="20000"/>
          </a:bodyPr>
          <a:lstStyle/>
          <a:p>
            <a:r>
              <a:rPr lang="en-US" sz="3200" smtClean="0">
                <a:latin typeface="Times New Roman" pitchFamily="18" charset="0"/>
                <a:cs typeface="Times New Roman" pitchFamily="18" charset="0"/>
              </a:rPr>
              <a:t>Thế nào là lập trình phi cấu trúc?</a:t>
            </a:r>
            <a:endParaRPr lang="vi-VN" sz="3200" smtClean="0">
              <a:latin typeface="Times New Roman" pitchFamily="18" charset="0"/>
              <a:cs typeface="Times New Roman" pitchFamily="18" charset="0"/>
            </a:endParaRPr>
          </a:p>
          <a:p>
            <a:r>
              <a:rPr lang="en-US" sz="3200" smtClean="0">
                <a:latin typeface="Times New Roman" pitchFamily="18" charset="0"/>
                <a:cs typeface="Times New Roman" pitchFamily="18" charset="0"/>
              </a:rPr>
              <a:t>Thế nào là lập trình có cấu trúc?</a:t>
            </a:r>
            <a:endParaRPr lang="vi-VN" sz="3200" smtClean="0">
              <a:latin typeface="Times New Roman" pitchFamily="18" charset="0"/>
              <a:cs typeface="Times New Roman" pitchFamily="18" charset="0"/>
            </a:endParaRPr>
          </a:p>
          <a:p>
            <a:r>
              <a:rPr lang="en-US" sz="3200" smtClean="0">
                <a:latin typeface="Times New Roman" pitchFamily="18" charset="0"/>
                <a:cs typeface="Times New Roman" pitchFamily="18" charset="0"/>
              </a:rPr>
              <a:t>Thế nào là lập trình hướng đối tượng?</a:t>
            </a:r>
            <a:endParaRPr lang="vi-VN" sz="3200" smtClean="0">
              <a:latin typeface="Times New Roman" pitchFamily="18" charset="0"/>
              <a:cs typeface="Times New Roman" pitchFamily="18" charset="0"/>
            </a:endParaRPr>
          </a:p>
          <a:p>
            <a:r>
              <a:rPr lang="en-US" sz="3200" smtClean="0">
                <a:latin typeface="Times New Roman" pitchFamily="18" charset="0"/>
                <a:cs typeface="Times New Roman" pitchFamily="18" charset="0"/>
              </a:rPr>
              <a:t>Thế nào là Lớp và đối tượng?</a:t>
            </a:r>
            <a:endParaRPr lang="vi-VN" sz="3200" smtClean="0">
              <a:latin typeface="Times New Roman" pitchFamily="18" charset="0"/>
              <a:cs typeface="Times New Roman" pitchFamily="18" charset="0"/>
            </a:endParaRPr>
          </a:p>
          <a:p>
            <a:r>
              <a:rPr lang="en-US" sz="3200" smtClean="0">
                <a:latin typeface="Times New Roman" pitchFamily="18" charset="0"/>
                <a:cs typeface="Times New Roman" pitchFamily="18" charset="0"/>
              </a:rPr>
              <a:t>Các đặc tính của lập trình hướng đối tượng?</a:t>
            </a:r>
            <a:endParaRPr lang="vi-VN" sz="3200" smtClean="0">
              <a:latin typeface="Times New Roman" pitchFamily="18" charset="0"/>
              <a:cs typeface="Times New Roman" pitchFamily="18" charset="0"/>
            </a:endParaRPr>
          </a:p>
          <a:p>
            <a:r>
              <a:rPr lang="en-US" sz="3200" smtClean="0">
                <a:latin typeface="Times New Roman" pitchFamily="18" charset="0"/>
                <a:cs typeface="Times New Roman" pitchFamily="18" charset="0"/>
              </a:rPr>
              <a:t>Trừu tượng hóa là gì? Điểm chú ý?</a:t>
            </a:r>
            <a:endParaRPr lang="vi-VN" sz="3200" smtClean="0">
              <a:latin typeface="Times New Roman" pitchFamily="18" charset="0"/>
              <a:cs typeface="Times New Roman" pitchFamily="18" charset="0"/>
            </a:endParaRPr>
          </a:p>
          <a:p>
            <a:r>
              <a:rPr lang="en-US" sz="3200" smtClean="0">
                <a:latin typeface="Times New Roman" pitchFamily="18" charset="0"/>
                <a:cs typeface="Times New Roman" pitchFamily="18" charset="0"/>
              </a:rPr>
              <a:t>Tính đóng gói?</a:t>
            </a:r>
            <a:endParaRPr lang="vi-VN" sz="3200" smtClean="0">
              <a:latin typeface="Times New Roman" pitchFamily="18" charset="0"/>
              <a:cs typeface="Times New Roman" pitchFamily="18" charset="0"/>
            </a:endParaRPr>
          </a:p>
          <a:p>
            <a:r>
              <a:rPr lang="en-US" sz="3200" smtClean="0">
                <a:latin typeface="Times New Roman" pitchFamily="18" charset="0"/>
                <a:cs typeface="Times New Roman" pitchFamily="18" charset="0"/>
              </a:rPr>
              <a:t>Tính kế thừa?</a:t>
            </a:r>
            <a:endParaRPr lang="vi-VN" sz="3200" smtClean="0">
              <a:latin typeface="Times New Roman" pitchFamily="18" charset="0"/>
              <a:cs typeface="Times New Roman" pitchFamily="18" charset="0"/>
            </a:endParaRPr>
          </a:p>
          <a:p>
            <a:r>
              <a:rPr lang="en-US" sz="3200" smtClean="0">
                <a:latin typeface="Times New Roman" pitchFamily="18" charset="0"/>
                <a:cs typeface="Times New Roman" pitchFamily="18" charset="0"/>
              </a:rPr>
              <a:t>Tính đa hình?</a:t>
            </a:r>
            <a:endParaRPr lang="vi-VN" sz="3200" smtClean="0">
              <a:latin typeface="Times New Roman" pitchFamily="18" charset="0"/>
              <a:cs typeface="Times New Roman" pitchFamily="18" charset="0"/>
            </a:endParaRPr>
          </a:p>
          <a:p>
            <a:r>
              <a:rPr lang="en-US" sz="3200" smtClean="0">
                <a:latin typeface="Times New Roman" pitchFamily="18" charset="0"/>
                <a:cs typeface="Times New Roman" pitchFamily="18" charset="0"/>
              </a:rPr>
              <a:t>Các ngôn ngữ hỗ trợ lập trình hướng đối tượng?</a:t>
            </a:r>
            <a:endParaRPr lang="vi-VN" sz="3200" smtClean="0">
              <a:latin typeface="Times New Roman" pitchFamily="18" charset="0"/>
              <a:cs typeface="Times New Roman" pitchFamily="18" charset="0"/>
            </a:endParaRPr>
          </a:p>
          <a:p>
            <a:endParaRPr lang="en-US" sz="320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blinds(horizontal)">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blinds(horizontal)">
                                      <p:cBhvr>
                                        <p:cTn id="12" dur="500"/>
                                        <p:tgtEl>
                                          <p:spTgt spid="33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3795">
                                            <p:txEl>
                                              <p:pRg st="2" end="2"/>
                                            </p:txEl>
                                          </p:spTgt>
                                        </p:tgtEl>
                                        <p:attrNameLst>
                                          <p:attrName>style.visibility</p:attrName>
                                        </p:attrNameLst>
                                      </p:cBhvr>
                                      <p:to>
                                        <p:strVal val="visible"/>
                                      </p:to>
                                    </p:set>
                                    <p:animEffect transition="in" filter="blinds(horizontal)">
                                      <p:cBhvr>
                                        <p:cTn id="17" dur="500"/>
                                        <p:tgtEl>
                                          <p:spTgt spid="337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3795">
                                            <p:txEl>
                                              <p:pRg st="3" end="3"/>
                                            </p:txEl>
                                          </p:spTgt>
                                        </p:tgtEl>
                                        <p:attrNameLst>
                                          <p:attrName>style.visibility</p:attrName>
                                        </p:attrNameLst>
                                      </p:cBhvr>
                                      <p:to>
                                        <p:strVal val="visible"/>
                                      </p:to>
                                    </p:set>
                                    <p:animEffect transition="in" filter="blinds(horizontal)">
                                      <p:cBhvr>
                                        <p:cTn id="22" dur="500"/>
                                        <p:tgtEl>
                                          <p:spTgt spid="337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3795">
                                            <p:txEl>
                                              <p:pRg st="4" end="4"/>
                                            </p:txEl>
                                          </p:spTgt>
                                        </p:tgtEl>
                                        <p:attrNameLst>
                                          <p:attrName>style.visibility</p:attrName>
                                        </p:attrNameLst>
                                      </p:cBhvr>
                                      <p:to>
                                        <p:strVal val="visible"/>
                                      </p:to>
                                    </p:set>
                                    <p:animEffect transition="in" filter="blinds(horizontal)">
                                      <p:cBhvr>
                                        <p:cTn id="27" dur="500"/>
                                        <p:tgtEl>
                                          <p:spTgt spid="337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3795">
                                            <p:txEl>
                                              <p:pRg st="5" end="5"/>
                                            </p:txEl>
                                          </p:spTgt>
                                        </p:tgtEl>
                                        <p:attrNameLst>
                                          <p:attrName>style.visibility</p:attrName>
                                        </p:attrNameLst>
                                      </p:cBhvr>
                                      <p:to>
                                        <p:strVal val="visible"/>
                                      </p:to>
                                    </p:set>
                                    <p:animEffect transition="in" filter="blinds(horizontal)">
                                      <p:cBhvr>
                                        <p:cTn id="32" dur="500"/>
                                        <p:tgtEl>
                                          <p:spTgt spid="337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3795">
                                            <p:txEl>
                                              <p:pRg st="6" end="6"/>
                                            </p:txEl>
                                          </p:spTgt>
                                        </p:tgtEl>
                                        <p:attrNameLst>
                                          <p:attrName>style.visibility</p:attrName>
                                        </p:attrNameLst>
                                      </p:cBhvr>
                                      <p:to>
                                        <p:strVal val="visible"/>
                                      </p:to>
                                    </p:set>
                                    <p:animEffect transition="in" filter="blinds(horizontal)">
                                      <p:cBhvr>
                                        <p:cTn id="37" dur="500"/>
                                        <p:tgtEl>
                                          <p:spTgt spid="3379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3795">
                                            <p:txEl>
                                              <p:pRg st="7" end="7"/>
                                            </p:txEl>
                                          </p:spTgt>
                                        </p:tgtEl>
                                        <p:attrNameLst>
                                          <p:attrName>style.visibility</p:attrName>
                                        </p:attrNameLst>
                                      </p:cBhvr>
                                      <p:to>
                                        <p:strVal val="visible"/>
                                      </p:to>
                                    </p:set>
                                    <p:animEffect transition="in" filter="blinds(horizontal)">
                                      <p:cBhvr>
                                        <p:cTn id="42" dur="500"/>
                                        <p:tgtEl>
                                          <p:spTgt spid="3379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3795">
                                            <p:txEl>
                                              <p:pRg st="8" end="8"/>
                                            </p:txEl>
                                          </p:spTgt>
                                        </p:tgtEl>
                                        <p:attrNameLst>
                                          <p:attrName>style.visibility</p:attrName>
                                        </p:attrNameLst>
                                      </p:cBhvr>
                                      <p:to>
                                        <p:strVal val="visible"/>
                                      </p:to>
                                    </p:set>
                                    <p:animEffect transition="in" filter="blinds(horizontal)">
                                      <p:cBhvr>
                                        <p:cTn id="47" dur="500"/>
                                        <p:tgtEl>
                                          <p:spTgt spid="3379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3795">
                                            <p:txEl>
                                              <p:pRg st="9" end="9"/>
                                            </p:txEl>
                                          </p:spTgt>
                                        </p:tgtEl>
                                        <p:attrNameLst>
                                          <p:attrName>style.visibility</p:attrName>
                                        </p:attrNameLst>
                                      </p:cBhvr>
                                      <p:to>
                                        <p:strVal val="visible"/>
                                      </p:to>
                                    </p:set>
                                    <p:animEffect transition="in" filter="blinds(horizontal)">
                                      <p:cBhvr>
                                        <p:cTn id="52" dur="500"/>
                                        <p:tgtEl>
                                          <p:spTgt spid="3379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906</TotalTime>
  <Words>2545</Words>
  <Application>Microsoft Office PowerPoint</Application>
  <PresentationFormat>On-screen Show (4:3)</PresentationFormat>
  <Paragraphs>262</Paragraphs>
  <Slides>28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Georgia</vt:lpstr>
      <vt:lpstr>Times New Roman</vt:lpstr>
      <vt:lpstr>Trebuchet MS</vt:lpstr>
      <vt:lpstr>Wingdings</vt:lpstr>
      <vt:lpstr>Wingdings 2</vt:lpstr>
      <vt:lpstr>Urban</vt:lpstr>
      <vt:lpstr>Bài 1: Giới thiệu về lập trình hướng đối tượng</vt:lpstr>
      <vt:lpstr>Giới thiệu</vt:lpstr>
      <vt:lpstr>Tổng quan về các phương pháp lập trình</vt:lpstr>
      <vt:lpstr>Lập trình phi cấu trúc</vt:lpstr>
      <vt:lpstr>Lập trình phi cấu trúc</vt:lpstr>
      <vt:lpstr>Phân chia thành các thủ tục.</vt:lpstr>
      <vt:lpstr>Lập trình cấu trúc</vt:lpstr>
      <vt:lpstr>Lập trình cấu trúc</vt:lpstr>
      <vt:lpstr>Nhược điểm của lập trình truyền thống</vt:lpstr>
      <vt:lpstr>Mô hình thế giới thực ( real-world)</vt:lpstr>
      <vt:lpstr>Lập trình hướng đối tượng</vt:lpstr>
      <vt:lpstr>Lập trình hướng đối tượng</vt:lpstr>
      <vt:lpstr>Mô hình hướng đối tượng</vt:lpstr>
      <vt:lpstr>Lập trình hướng đối tượng.</vt:lpstr>
      <vt:lpstr>Hệ thống hướng đối tượng</vt:lpstr>
      <vt:lpstr>Đối tượng (Object)</vt:lpstr>
      <vt:lpstr>Thuộc tính &amp; phương thức</vt:lpstr>
      <vt:lpstr>Lớp (Class)</vt:lpstr>
      <vt:lpstr>Lớp và đối tượng</vt:lpstr>
      <vt:lpstr>Trừu tượng hóa</vt:lpstr>
      <vt:lpstr>Truyền thông điệp</vt:lpstr>
      <vt:lpstr>Sự đóng gói</vt:lpstr>
      <vt:lpstr>Sự kế thừa</vt:lpstr>
      <vt:lpstr>Sự đa hình</vt:lpstr>
      <vt:lpstr>Các bước thiết kế chương trình OOP</vt:lpstr>
      <vt:lpstr>Ưu điểm của OOP</vt:lpstr>
      <vt:lpstr>Một số ngôn ngữ OOP</vt:lpstr>
      <vt:lpstr>Câu hỏi ôn tập</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 Giới thiệu về lập trình hướng đối tượng</dc:title>
  <dc:creator>PhamBichVan</dc:creator>
  <cp:lastModifiedBy>HUUNOI</cp:lastModifiedBy>
  <cp:revision>89</cp:revision>
  <dcterms:created xsi:type="dcterms:W3CDTF">2006-08-16T00:00:00Z</dcterms:created>
  <dcterms:modified xsi:type="dcterms:W3CDTF">2017-01-16T02:06:10Z</dcterms:modified>
</cp:coreProperties>
</file>